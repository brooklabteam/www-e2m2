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7"/>
  </p:notesMasterIdLst>
  <p:sldIdLst>
    <p:sldId id="260" r:id="rId2"/>
    <p:sldId id="261" r:id="rId3"/>
    <p:sldId id="272" r:id="rId4"/>
    <p:sldId id="557" r:id="rId5"/>
    <p:sldId id="558" r:id="rId6"/>
    <p:sldId id="275" r:id="rId7"/>
    <p:sldId id="276" r:id="rId8"/>
    <p:sldId id="277" r:id="rId9"/>
    <p:sldId id="278" r:id="rId10"/>
    <p:sldId id="280" r:id="rId11"/>
    <p:sldId id="279" r:id="rId12"/>
    <p:sldId id="273" r:id="rId13"/>
    <p:sldId id="282" r:id="rId14"/>
    <p:sldId id="291" r:id="rId15"/>
    <p:sldId id="672" r:id="rId16"/>
    <p:sldId id="567" r:id="rId17"/>
    <p:sldId id="552" r:id="rId18"/>
    <p:sldId id="559" r:id="rId19"/>
    <p:sldId id="560" r:id="rId20"/>
    <p:sldId id="561" r:id="rId21"/>
    <p:sldId id="562" r:id="rId22"/>
    <p:sldId id="657" r:id="rId23"/>
    <p:sldId id="658" r:id="rId24"/>
    <p:sldId id="659" r:id="rId25"/>
    <p:sldId id="660" r:id="rId26"/>
    <p:sldId id="661" r:id="rId27"/>
    <p:sldId id="662" r:id="rId28"/>
    <p:sldId id="663" r:id="rId29"/>
    <p:sldId id="664" r:id="rId30"/>
    <p:sldId id="666" r:id="rId31"/>
    <p:sldId id="667" r:id="rId32"/>
    <p:sldId id="665" r:id="rId33"/>
    <p:sldId id="332" r:id="rId34"/>
    <p:sldId id="579" r:id="rId35"/>
    <p:sldId id="581" r:id="rId36"/>
    <p:sldId id="582" r:id="rId37"/>
    <p:sldId id="580" r:id="rId38"/>
    <p:sldId id="668" r:id="rId39"/>
    <p:sldId id="595" r:id="rId40"/>
    <p:sldId id="597" r:id="rId41"/>
    <p:sldId id="599" r:id="rId42"/>
    <p:sldId id="675" r:id="rId43"/>
    <p:sldId id="682" r:id="rId44"/>
    <p:sldId id="683" r:id="rId45"/>
    <p:sldId id="684" r:id="rId46"/>
    <p:sldId id="335" r:id="rId47"/>
    <p:sldId id="394" r:id="rId48"/>
    <p:sldId id="600" r:id="rId49"/>
    <p:sldId id="669" r:id="rId50"/>
    <p:sldId id="407" r:id="rId51"/>
    <p:sldId id="602" r:id="rId52"/>
    <p:sldId id="677" r:id="rId53"/>
    <p:sldId id="676" r:id="rId54"/>
    <p:sldId id="603" r:id="rId55"/>
    <p:sldId id="338" r:id="rId56"/>
    <p:sldId id="604" r:id="rId57"/>
    <p:sldId id="616" r:id="rId58"/>
    <p:sldId id="617" r:id="rId59"/>
    <p:sldId id="605" r:id="rId60"/>
    <p:sldId id="608" r:id="rId61"/>
    <p:sldId id="610" r:id="rId62"/>
    <p:sldId id="611" r:id="rId63"/>
    <p:sldId id="609" r:id="rId64"/>
    <p:sldId id="612" r:id="rId65"/>
    <p:sldId id="613" r:id="rId66"/>
    <p:sldId id="678" r:id="rId67"/>
    <p:sldId id="680" r:id="rId68"/>
    <p:sldId id="679" r:id="rId69"/>
    <p:sldId id="619" r:id="rId70"/>
    <p:sldId id="615" r:id="rId71"/>
    <p:sldId id="681" r:id="rId72"/>
    <p:sldId id="670" r:id="rId73"/>
    <p:sldId id="621" r:id="rId74"/>
    <p:sldId id="623" r:id="rId75"/>
    <p:sldId id="622" r:id="rId76"/>
    <p:sldId id="624" r:id="rId77"/>
    <p:sldId id="626" r:id="rId78"/>
    <p:sldId id="614" r:id="rId79"/>
    <p:sldId id="625" r:id="rId80"/>
    <p:sldId id="632" r:id="rId81"/>
    <p:sldId id="628" r:id="rId82"/>
    <p:sldId id="627" r:id="rId83"/>
    <p:sldId id="630" r:id="rId84"/>
    <p:sldId id="637" r:id="rId85"/>
    <p:sldId id="641" r:id="rId86"/>
    <p:sldId id="642" r:id="rId87"/>
    <p:sldId id="640" r:id="rId88"/>
    <p:sldId id="643" r:id="rId89"/>
    <p:sldId id="629" r:id="rId90"/>
    <p:sldId id="646" r:id="rId91"/>
    <p:sldId id="648" r:id="rId92"/>
    <p:sldId id="649" r:id="rId93"/>
    <p:sldId id="650" r:id="rId94"/>
    <p:sldId id="651" r:id="rId95"/>
    <p:sldId id="631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FF85FF"/>
    <a:srgbClr val="00FA00"/>
    <a:srgbClr val="A6A6A6"/>
    <a:srgbClr val="00FDFF"/>
    <a:srgbClr val="0096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4643"/>
  </p:normalViewPr>
  <p:slideViewPr>
    <p:cSldViewPr snapToGrid="0" snapToObjects="1">
      <p:cViewPr varScale="1">
        <p:scale>
          <a:sx n="100" d="100"/>
          <a:sy n="100" d="100"/>
        </p:scale>
        <p:origin x="1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03745-0C71-BA4F-9F55-4E24EFF4F3DE}" type="datetimeFigureOut">
              <a:rPr lang="en-US" smtClean="0"/>
              <a:t>5/18/25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DA5C5-60F3-3D4F-85B7-720227B5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86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8DFB9-B33D-264F-97F7-EB53E534371D}" type="datetimeFigureOut">
              <a:rPr lang="en-US" smtClean="0"/>
              <a:t>5/18/25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2F2-D053-2545-85D5-A36F7ED6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4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arabrook.github.io/E2M2/E2M2_2019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gif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if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649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Data and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8A943-7ADA-0241-A157-78DF83A0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4406900"/>
            <a:ext cx="10807700" cy="177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Hôtel Cyperus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Andasibe National Park, Madagascar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May 2025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0530C8A-66DC-F14A-8B05-F1DCFFF57F4E}"/>
              </a:ext>
            </a:extLst>
          </p:cNvPr>
          <p:cNvSpPr txBox="1">
            <a:spLocks/>
          </p:cNvSpPr>
          <p:nvPr/>
        </p:nvSpPr>
        <p:spPr>
          <a:xfrm>
            <a:off x="141515" y="261257"/>
            <a:ext cx="10515600" cy="962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E²M²: Ecological and Epidemiological Modeling in Madagascar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03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6E3A-B966-BB41-9DBB-AF1DCD71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01" y="13780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Thanks to our sponsors!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3143599-A071-2240-891D-F2B07592A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51" y="5291528"/>
            <a:ext cx="10807700" cy="1628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Lecture contributions from: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Tanjona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Ramiadantsoa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Steve </a:t>
            </a:r>
            <a:r>
              <a:rPr lang="en-US" dirty="0" err="1">
                <a:solidFill>
                  <a:schemeClr val="bg1"/>
                </a:solidFill>
              </a:rPr>
              <a:t>Bellan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Picture">
            <a:extLst>
              <a:ext uri="{FF2B5EF4-FFF2-40B4-BE49-F238E27FC236}">
                <a16:creationId xmlns:a16="http://schemas.microsoft.com/office/drawing/2014/main" id="{9050C192-4A7A-52C5-8E5B-90B5FA036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657" y="1450666"/>
            <a:ext cx="5218894" cy="253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at on a branch&#10;&#10;AI-generated content may be incorrect.">
            <a:extLst>
              <a:ext uri="{FF2B5EF4-FFF2-40B4-BE49-F238E27FC236}">
                <a16:creationId xmlns:a16="http://schemas.microsoft.com/office/drawing/2014/main" id="{5BE31697-E01D-17EE-666A-A7FC214C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200" y="1744933"/>
            <a:ext cx="2744078" cy="2777748"/>
          </a:xfrm>
          <a:prstGeom prst="rect">
            <a:avLst/>
          </a:prstGeom>
        </p:spPr>
      </p:pic>
      <p:pic>
        <p:nvPicPr>
          <p:cNvPr id="8" name="Picture 7" descr="A red circle with a logo&#10;&#10;AI-generated content may be incorrect.">
            <a:extLst>
              <a:ext uri="{FF2B5EF4-FFF2-40B4-BE49-F238E27FC236}">
                <a16:creationId xmlns:a16="http://schemas.microsoft.com/office/drawing/2014/main" id="{31D4ED88-FE3B-3AE1-7589-E00CEFDB8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757" y="212415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4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13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08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31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14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0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001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3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730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41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20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7"/>
            <a:ext cx="10515600" cy="47021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the “E” in E²M²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97E5-95D5-304C-BF8B-85900329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3"/>
            <a:ext cx="10515600" cy="47021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the “E” in E²M²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Ecology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59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D941F7-F361-8E4A-9765-CDE276CD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3"/>
            <a:ext cx="10515600" cy="52363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the “E” in E²M²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Ecology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Epidemiology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829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9C0F-5F31-9846-B7FD-785AAE471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6871" y="1698171"/>
            <a:ext cx="6444343" cy="36950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All course materials are available at:</a:t>
            </a:r>
          </a:p>
          <a:p>
            <a:pPr marL="0" indent="0" algn="ctr">
              <a:buNone/>
            </a:pPr>
            <a:r>
              <a:rPr lang="en-US" sz="4000" dirty="0">
                <a:hlinkClick r:id="rId2"/>
              </a:rPr>
              <a:t>E2M2.org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86782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science?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A74D5-F576-21D3-BFF0-C782865C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science?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EA45D-4B3D-0B4C-970B-93DB2E346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the systematic observation of natural events and conditions in order to discover facts about them and to formulate laws and principles based on these facts.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i="1" dirty="0">
                <a:solidFill>
                  <a:schemeClr val="bg1"/>
                </a:solidFill>
              </a:rPr>
              <a:t>Academic Press Dictionary of Science &amp; Technology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4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What is science?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EA45D-4B3D-0B4C-970B-93DB2E346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40FF"/>
                </a:solidFill>
              </a:rPr>
              <a:t>systematic observation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of natural events and conditions in order to </a:t>
            </a:r>
            <a:r>
              <a:rPr lang="en-US" dirty="0">
                <a:solidFill>
                  <a:srgbClr val="00B050"/>
                </a:solidFill>
              </a:rPr>
              <a:t>discover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facts about them and to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formulate laws and principles </a:t>
            </a:r>
            <a:r>
              <a:rPr lang="en-US" dirty="0">
                <a:solidFill>
                  <a:srgbClr val="FFFFFF"/>
                </a:solidFill>
              </a:rPr>
              <a:t>based on these facts.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 – </a:t>
            </a:r>
            <a:r>
              <a:rPr lang="en-US" sz="2400" i="1" dirty="0">
                <a:solidFill>
                  <a:srgbClr val="FFFFFF"/>
                </a:solidFill>
              </a:rPr>
              <a:t>Academic Press Dictionary of Science &amp; Technology</a:t>
            </a:r>
          </a:p>
          <a:p>
            <a:pPr marL="514350" indent="-514350">
              <a:buAutoNum type="arabicPeriod"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5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40FF"/>
                </a:solidFill>
              </a:rPr>
              <a:t>Observations</a:t>
            </a:r>
            <a:r>
              <a:rPr lang="en-US" b="1" dirty="0">
                <a:solidFill>
                  <a:schemeClr val="bg1"/>
                </a:solidFill>
              </a:rPr>
              <a:t> and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Laws and Principles</a:t>
            </a:r>
          </a:p>
        </p:txBody>
      </p:sp>
    </p:spTree>
    <p:extLst>
      <p:ext uri="{BB962C8B-B14F-4D97-AF65-F5344CB8AC3E}">
        <p14:creationId xmlns:p14="http://schemas.microsoft.com/office/powerpoint/2010/main" val="2677893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b="1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A7943-817D-984B-A335-8BEC23E9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796" y="3346109"/>
            <a:ext cx="2784835" cy="26261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015758-7790-E143-B9C0-30A4A38B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524" y="580505"/>
            <a:ext cx="2602786" cy="25465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84AD30-7C49-4642-9661-C5C64346082B}"/>
              </a:ext>
            </a:extLst>
          </p:cNvPr>
          <p:cNvSpPr/>
          <p:nvPr/>
        </p:nvSpPr>
        <p:spPr>
          <a:xfrm>
            <a:off x="9337878" y="4243516"/>
            <a:ext cx="1929689" cy="793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603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What are </a:t>
            </a:r>
            <a:r>
              <a:rPr lang="en-US" sz="3600" dirty="0">
                <a:solidFill>
                  <a:srgbClr val="FF40FF"/>
                </a:solidFill>
              </a:rPr>
              <a:t>data</a:t>
            </a:r>
            <a:r>
              <a:rPr lang="en-US" sz="3600" dirty="0">
                <a:solidFill>
                  <a:schemeClr val="bg1"/>
                </a:solidFill>
              </a:rPr>
              <a:t>?</a:t>
            </a:r>
          </a:p>
          <a:p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4B8511-1769-1941-8CB5-CB115A5A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5AEE355-22C7-81AB-5DCD-14AC46D4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DAA616-0309-680A-BDAF-73D30CA3A5E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b="1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415095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What are </a:t>
            </a:r>
            <a:r>
              <a:rPr lang="en-US" sz="3600" dirty="0">
                <a:solidFill>
                  <a:srgbClr val="FF40FF"/>
                </a:solidFill>
              </a:rPr>
              <a:t>data</a:t>
            </a:r>
            <a:r>
              <a:rPr lang="en-US" sz="3600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sz="2800" dirty="0"/>
              <a:t>Backbone of science</a:t>
            </a:r>
          </a:p>
          <a:p>
            <a:pPr lvl="1"/>
            <a:r>
              <a:rPr lang="en-US" sz="2800" dirty="0">
                <a:solidFill>
                  <a:srgbClr val="FF40FF"/>
                </a:solidFill>
              </a:rPr>
              <a:t>Evidence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</a:rPr>
              <a:t>to support a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claim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62CECB-572F-B843-ABB9-E8C9C4AB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A022479-EE98-BA3A-1EEB-F6CA5182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b="1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677965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94" t="8057" r="6161" b="21148"/>
          <a:stretch/>
        </p:blipFill>
        <p:spPr>
          <a:xfrm>
            <a:off x="3526971" y="1877785"/>
            <a:ext cx="5159829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42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08" r="4685" b="17763"/>
          <a:stretch/>
        </p:blipFill>
        <p:spPr>
          <a:xfrm>
            <a:off x="3461656" y="1450395"/>
            <a:ext cx="5323115" cy="43625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4268C23-0008-DC61-3651-3CD2D9D22469}"/>
              </a:ext>
            </a:extLst>
          </p:cNvPr>
          <p:cNvSpPr txBox="1">
            <a:spLocks/>
          </p:cNvSpPr>
          <p:nvPr/>
        </p:nvSpPr>
        <p:spPr>
          <a:xfrm>
            <a:off x="3081407" y="5612819"/>
            <a:ext cx="66994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bg1"/>
                </a:solidFill>
              </a:rPr>
              <a:t>What do we need to make these data?</a:t>
            </a:r>
          </a:p>
        </p:txBody>
      </p:sp>
    </p:spTree>
    <p:extLst>
      <p:ext uri="{BB962C8B-B14F-4D97-AF65-F5344CB8AC3E}">
        <p14:creationId xmlns:p14="http://schemas.microsoft.com/office/powerpoint/2010/main" val="285908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58" b="10991"/>
          <a:stretch/>
        </p:blipFill>
        <p:spPr>
          <a:xfrm>
            <a:off x="3020786" y="1450395"/>
            <a:ext cx="6074526" cy="472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97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65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1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0ED5F8-A138-456B-A6B8-0261CC0EC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055889"/>
            <a:ext cx="7772400" cy="5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83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1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D63779-3F4F-33AE-B7BC-097EE8CF5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313" y="986483"/>
            <a:ext cx="4431393" cy="67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08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1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35DF3-7D57-A9F3-6CBB-40BA214D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572" y="1060458"/>
            <a:ext cx="5074856" cy="53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83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1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Are these data?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8CA98-E610-332F-C8C3-519B86BA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35DF3-7D57-A9F3-6CBB-40BA214D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572" y="1060458"/>
            <a:ext cx="5074856" cy="530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CDD988-3B28-BB33-E49B-5864F3CE3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188" y="6466114"/>
            <a:ext cx="3654811" cy="37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9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C8DB90-CF41-7B09-C3E4-9AB5C7C6C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>
                <a:solidFill>
                  <a:schemeClr val="bg1"/>
                </a:solidFill>
                <a:latin typeface="+mj-lt"/>
              </a:rPr>
              <a:t>What are </a:t>
            </a:r>
            <a:r>
              <a:rPr lang="en-US" sz="5000" dirty="0">
                <a:solidFill>
                  <a:srgbClr val="FF40FF"/>
                </a:solidFill>
                <a:latin typeface="+mj-lt"/>
              </a:rPr>
              <a:t>data</a:t>
            </a:r>
            <a:r>
              <a:rPr lang="en-US" sz="5000" dirty="0">
                <a:solidFill>
                  <a:schemeClr val="bg1"/>
                </a:solidFill>
                <a:latin typeface="+mj-lt"/>
              </a:rPr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29ECF6-2594-2C27-FE76-169042F6C37E}"/>
              </a:ext>
            </a:extLst>
          </p:cNvPr>
          <p:cNvSpPr txBox="1">
            <a:spLocks/>
          </p:cNvSpPr>
          <p:nvPr/>
        </p:nvSpPr>
        <p:spPr>
          <a:xfrm>
            <a:off x="942365" y="20037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>
                <a:solidFill>
                  <a:schemeClr val="bg1"/>
                </a:solidFill>
              </a:rPr>
              <a:t>A relationship between at least two variables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x: explanatory, control, driver, independent variable(s)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y: response, dependent variable(s) 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x and y should be clearly defined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with respect to the</a:t>
            </a:r>
            <a:r>
              <a:rPr lang="en-US" sz="2800" b="1" dirty="0">
                <a:solidFill>
                  <a:schemeClr val="bg1"/>
                </a:solidFill>
              </a:rPr>
              <a:t> question!</a:t>
            </a: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Backbone of science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Evidence to support a claim</a:t>
            </a:r>
          </a:p>
          <a:p>
            <a:pPr lvl="1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66DEE-73D0-750A-0328-C585961B789A}"/>
              </a:ext>
            </a:extLst>
          </p:cNvPr>
          <p:cNvSpPr/>
          <p:nvPr/>
        </p:nvSpPr>
        <p:spPr>
          <a:xfrm>
            <a:off x="1289113" y="3400191"/>
            <a:ext cx="7058635" cy="2824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40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C8DB90-CF41-7B09-C3E4-9AB5C7C6C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>
                <a:solidFill>
                  <a:schemeClr val="bg1"/>
                </a:solidFill>
                <a:latin typeface="+mj-lt"/>
              </a:rPr>
              <a:t>What are </a:t>
            </a:r>
            <a:r>
              <a:rPr lang="en-US" sz="5000" dirty="0">
                <a:solidFill>
                  <a:srgbClr val="FF40FF"/>
                </a:solidFill>
                <a:latin typeface="+mj-lt"/>
              </a:rPr>
              <a:t>data</a:t>
            </a:r>
            <a:r>
              <a:rPr lang="en-US" sz="5000" dirty="0">
                <a:solidFill>
                  <a:schemeClr val="bg1"/>
                </a:solidFill>
                <a:latin typeface="+mj-lt"/>
              </a:rPr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29ECF6-2594-2C27-FE76-169042F6C37E}"/>
              </a:ext>
            </a:extLst>
          </p:cNvPr>
          <p:cNvSpPr txBox="1">
            <a:spLocks/>
          </p:cNvSpPr>
          <p:nvPr/>
        </p:nvSpPr>
        <p:spPr>
          <a:xfrm>
            <a:off x="942365" y="20037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>
                <a:solidFill>
                  <a:schemeClr val="bg1"/>
                </a:solidFill>
              </a:rPr>
              <a:t>A relationship between at least two variables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x: explanatory, control, driver, independent variable(s)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y: response, dependent variable(s) 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x and y should be clearly defined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with respect to the</a:t>
            </a:r>
            <a:r>
              <a:rPr lang="en-US" sz="2800" b="1" dirty="0">
                <a:solidFill>
                  <a:schemeClr val="bg1"/>
                </a:solidFill>
              </a:rPr>
              <a:t> question!</a:t>
            </a: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Backbone of science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Evidence to support a claim</a:t>
            </a:r>
          </a:p>
          <a:p>
            <a:pPr lvl="1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B80D8B-B5A4-8F9B-949D-F17FFC94FAC7}"/>
              </a:ext>
            </a:extLst>
          </p:cNvPr>
          <p:cNvSpPr/>
          <p:nvPr/>
        </p:nvSpPr>
        <p:spPr>
          <a:xfrm>
            <a:off x="1289113" y="4359729"/>
            <a:ext cx="7058635" cy="18653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54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C8DB90-CF41-7B09-C3E4-9AB5C7C6C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>
                <a:solidFill>
                  <a:schemeClr val="bg1"/>
                </a:solidFill>
                <a:latin typeface="+mj-lt"/>
              </a:rPr>
              <a:t>What are </a:t>
            </a:r>
            <a:r>
              <a:rPr lang="en-US" sz="5000" dirty="0">
                <a:solidFill>
                  <a:srgbClr val="FF40FF"/>
                </a:solidFill>
                <a:latin typeface="+mj-lt"/>
              </a:rPr>
              <a:t>data</a:t>
            </a:r>
            <a:r>
              <a:rPr lang="en-US" sz="5000" dirty="0">
                <a:solidFill>
                  <a:schemeClr val="bg1"/>
                </a:solidFill>
                <a:latin typeface="+mj-lt"/>
              </a:rPr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29ECF6-2594-2C27-FE76-169042F6C37E}"/>
              </a:ext>
            </a:extLst>
          </p:cNvPr>
          <p:cNvSpPr txBox="1">
            <a:spLocks/>
          </p:cNvSpPr>
          <p:nvPr/>
        </p:nvSpPr>
        <p:spPr>
          <a:xfrm>
            <a:off x="942365" y="20037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>
                <a:solidFill>
                  <a:schemeClr val="bg1"/>
                </a:solidFill>
              </a:rPr>
              <a:t>A relationship between at least two variables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x: explanatory, control, driver, independent variable(s)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y: response, dependent variable(s) 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x and y should be clearly defined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with respect to the</a:t>
            </a:r>
            <a:r>
              <a:rPr lang="en-US" sz="2800" b="1" dirty="0">
                <a:solidFill>
                  <a:schemeClr val="bg1"/>
                </a:solidFill>
              </a:rPr>
              <a:t> question!</a:t>
            </a: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3200" b="1" dirty="0">
                <a:solidFill>
                  <a:srgbClr val="FF40FF"/>
                </a:solidFill>
              </a:rPr>
              <a:t>Evidence</a:t>
            </a:r>
            <a:r>
              <a:rPr lang="en-US" sz="3200" dirty="0">
                <a:solidFill>
                  <a:schemeClr val="bg1"/>
                </a:solidFill>
              </a:rPr>
              <a:t> to support a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claim</a:t>
            </a:r>
          </a:p>
          <a:p>
            <a:pPr lvl="1"/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322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A61F5E-6299-DF44-8A78-E9B71B0A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14068"/>
            <a:ext cx="1468069" cy="14363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C8DB90-CF41-7B09-C3E4-9AB5C7C6C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31" y="2725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Data provide </a:t>
            </a:r>
            <a:r>
              <a:rPr lang="en-US" sz="4000" dirty="0">
                <a:solidFill>
                  <a:srgbClr val="FF40FF"/>
                </a:solidFill>
                <a:latin typeface="+mj-lt"/>
              </a:rPr>
              <a:t>evidence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to support a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claim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lvl="1"/>
            <a:r>
              <a:rPr lang="en-US" sz="4000" dirty="0"/>
              <a:t>Backbone of science</a:t>
            </a:r>
          </a:p>
          <a:p>
            <a:pPr lvl="1"/>
            <a:endParaRPr lang="en-US" sz="4000" dirty="0">
              <a:solidFill>
                <a:schemeClr val="bg1"/>
              </a:solidFill>
            </a:endParaRPr>
          </a:p>
          <a:p>
            <a:endParaRPr lang="en-US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B81196-45EC-E3B2-9592-B6DC83DC9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19" y="1450395"/>
            <a:ext cx="6628493" cy="5304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C962ED-6490-8437-AC02-4F88F7A6A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572" y="1060458"/>
            <a:ext cx="5074856" cy="530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648F9-DC3C-DC6E-6E2A-8A174DB7A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188" y="6466114"/>
            <a:ext cx="3654811" cy="37781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E50783-2018-E110-8142-6992A069DFEB}"/>
              </a:ext>
            </a:extLst>
          </p:cNvPr>
          <p:cNvSpPr txBox="1">
            <a:spLocks/>
          </p:cNvSpPr>
          <p:nvPr/>
        </p:nvSpPr>
        <p:spPr>
          <a:xfrm>
            <a:off x="8772384" y="2114776"/>
            <a:ext cx="32112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CLAIM</a:t>
            </a:r>
            <a:r>
              <a:rPr lang="en-US" i="1" dirty="0">
                <a:solidFill>
                  <a:schemeClr val="bg1"/>
                </a:solidFill>
              </a:rPr>
              <a:t>: The population size of Madagascar has increased throughout the past 50 years</a:t>
            </a:r>
          </a:p>
        </p:txBody>
      </p:sp>
    </p:spTree>
    <p:extLst>
      <p:ext uri="{BB962C8B-B14F-4D97-AF65-F5344CB8AC3E}">
        <p14:creationId xmlns:p14="http://schemas.microsoft.com/office/powerpoint/2010/main" val="881998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887075"/>
              </p:ext>
            </p:extLst>
          </p:nvPr>
        </p:nvGraphicFramePr>
        <p:xfrm>
          <a:off x="1994646" y="1367130"/>
          <a:ext cx="8256495" cy="47504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10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40FF"/>
                          </a:solidFill>
                        </a:rPr>
                        <a:t>Observational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40FF"/>
                          </a:solidFill>
                        </a:rPr>
                        <a:t>Experimental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40FF"/>
                          </a:solidFill>
                        </a:rPr>
                        <a:t>Simulated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73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</a:t>
                      </a:r>
                      <a:r>
                        <a:rPr lang="en-US" baseline="0" dirty="0"/>
                        <a:t> Just measure x and y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 Interfere</a:t>
                      </a:r>
                      <a:r>
                        <a:rPr lang="en-US" baseline="0" dirty="0"/>
                        <a:t> with x or the relationship between x and y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 Create</a:t>
                      </a:r>
                      <a:r>
                        <a:rPr lang="en-US" baseline="0" dirty="0"/>
                        <a:t> a relationship between x and y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1" t="6667" r="14558" b="9804"/>
          <a:stretch/>
        </p:blipFill>
        <p:spPr>
          <a:xfrm>
            <a:off x="2152650" y="2271725"/>
            <a:ext cx="1622738" cy="16943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5"/>
          <a:stretch/>
        </p:blipFill>
        <p:spPr>
          <a:xfrm>
            <a:off x="2244510" y="4233314"/>
            <a:ext cx="1439019" cy="161700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28" y="2914241"/>
            <a:ext cx="2708777" cy="2103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573" y="3118888"/>
            <a:ext cx="2611735" cy="177598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374776" y="1367130"/>
            <a:ext cx="0" cy="4483193"/>
          </a:xfrm>
          <a:prstGeom prst="line">
            <a:avLst/>
          </a:prstGeom>
          <a:ln w="571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477280" y="1367130"/>
            <a:ext cx="0" cy="4483193"/>
          </a:xfrm>
          <a:prstGeom prst="line">
            <a:avLst/>
          </a:prstGeom>
          <a:ln w="571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/>
          <p:cNvSpPr/>
          <p:nvPr/>
        </p:nvSpPr>
        <p:spPr>
          <a:xfrm rot="16200000">
            <a:off x="4523753" y="3360718"/>
            <a:ext cx="463924" cy="5443134"/>
          </a:xfrm>
          <a:prstGeom prst="leftBrace">
            <a:avLst/>
          </a:prstGeom>
          <a:ln w="571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2554" y="6349145"/>
            <a:ext cx="154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Empirical data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F3E79E5A-32A4-C949-B290-A2F4949FF727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Sources of x and 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F572A2-E413-AC47-AF88-38D4617C4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63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4">
            <a:extLst>
              <a:ext uri="{FF2B5EF4-FFF2-40B4-BE49-F238E27FC236}">
                <a16:creationId xmlns:a16="http://schemas.microsoft.com/office/drawing/2014/main" id="{F3E79E5A-32A4-C949-B290-A2F4949FF727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Types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466210-AEAB-6243-AEF9-06EEE1E2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Numerical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DB8A17B-901A-6743-AC43-D51B55F0C49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Categorical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6C29F3-2ED7-0746-854E-E920A02B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77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466210-AEAB-6243-AEF9-06EEE1E2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Numerical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numerical when you can transform it with mathematical operation</a:t>
            </a:r>
          </a:p>
          <a:p>
            <a:r>
              <a:rPr lang="en-US" dirty="0">
                <a:solidFill>
                  <a:schemeClr val="bg1"/>
                </a:solidFill>
              </a:rPr>
              <a:t>Examples?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DB8A17B-901A-6743-AC43-D51B55F0C49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Categorical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CB019-B3C0-A746-9FCA-946BCF75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0009BB5D-00AA-5519-65E4-30E402C82F90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Types</a:t>
            </a:r>
          </a:p>
        </p:txBody>
      </p:sp>
    </p:spTree>
    <p:extLst>
      <p:ext uri="{BB962C8B-B14F-4D97-AF65-F5344CB8AC3E}">
        <p14:creationId xmlns:p14="http://schemas.microsoft.com/office/powerpoint/2010/main" val="2210037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466210-AEAB-6243-AEF9-06EEE1E2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Numerical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numerical when you can transform it with mathematical operation</a:t>
            </a:r>
          </a:p>
          <a:p>
            <a:r>
              <a:rPr lang="en-US" dirty="0">
                <a:solidFill>
                  <a:schemeClr val="bg1"/>
                </a:solidFill>
              </a:rPr>
              <a:t>Examples:</a:t>
            </a:r>
          </a:p>
          <a:p>
            <a:r>
              <a:rPr lang="en-US" dirty="0">
                <a:solidFill>
                  <a:schemeClr val="bg1"/>
                </a:solidFill>
              </a:rPr>
              <a:t>Integer, real number, multi-dimensional number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DB8A17B-901A-6743-AC43-D51B55F0C49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Categorical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07DF2-AB84-914A-A499-D93B43F1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976327BA-187D-913D-498A-C8788005F5F0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Types</a:t>
            </a:r>
          </a:p>
        </p:txBody>
      </p:sp>
    </p:spTree>
    <p:extLst>
      <p:ext uri="{BB962C8B-B14F-4D97-AF65-F5344CB8AC3E}">
        <p14:creationId xmlns:p14="http://schemas.microsoft.com/office/powerpoint/2010/main" val="2121593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466210-AEAB-6243-AEF9-06EEE1E2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Numerical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numerical when you can transform it with mathematical operation</a:t>
            </a:r>
          </a:p>
          <a:p>
            <a:r>
              <a:rPr lang="en-US" dirty="0">
                <a:solidFill>
                  <a:schemeClr val="bg1"/>
                </a:solidFill>
              </a:rPr>
              <a:t>Examples:</a:t>
            </a:r>
          </a:p>
          <a:p>
            <a:r>
              <a:rPr lang="en-US" dirty="0">
                <a:solidFill>
                  <a:schemeClr val="bg1"/>
                </a:solidFill>
              </a:rPr>
              <a:t>Integer, real number, multi-dimensional number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DB8A17B-901A-6743-AC43-D51B55F0C49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Categorical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categorical when it is not numerical but a categorical can be numerical?</a:t>
            </a:r>
          </a:p>
          <a:p>
            <a:r>
              <a:rPr lang="en-US" dirty="0">
                <a:solidFill>
                  <a:schemeClr val="bg1"/>
                </a:solidFill>
              </a:rPr>
              <a:t>Examples?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CA5D1-6B0A-8E4E-9C86-34221A1A1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640B2331-5146-DB69-5FE8-035883ED7E0F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Types</a:t>
            </a:r>
          </a:p>
        </p:txBody>
      </p:sp>
    </p:spTree>
    <p:extLst>
      <p:ext uri="{BB962C8B-B14F-4D97-AF65-F5344CB8AC3E}">
        <p14:creationId xmlns:p14="http://schemas.microsoft.com/office/powerpoint/2010/main" val="51146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466210-AEAB-6243-AEF9-06EEE1E2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Numerical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numerical when you can transform it with mathematical operation</a:t>
            </a:r>
          </a:p>
          <a:p>
            <a:r>
              <a:rPr lang="en-US" dirty="0">
                <a:solidFill>
                  <a:schemeClr val="bg1"/>
                </a:solidFill>
              </a:rPr>
              <a:t>Examples:</a:t>
            </a:r>
          </a:p>
          <a:p>
            <a:r>
              <a:rPr lang="en-US" dirty="0">
                <a:solidFill>
                  <a:schemeClr val="bg1"/>
                </a:solidFill>
              </a:rPr>
              <a:t>Integer, real number, multi-dimensional number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DB8A17B-901A-6743-AC43-D51B55F0C494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Categorical</a:t>
            </a:r>
          </a:p>
          <a:p>
            <a:r>
              <a:rPr lang="en-US" dirty="0">
                <a:solidFill>
                  <a:schemeClr val="bg1"/>
                </a:solidFill>
              </a:rPr>
              <a:t>A variable is categorical when it is not numerical but a categorical can be numerical?</a:t>
            </a:r>
          </a:p>
          <a:p>
            <a:r>
              <a:rPr lang="en-US" dirty="0">
                <a:solidFill>
                  <a:schemeClr val="bg1"/>
                </a:solidFill>
              </a:rPr>
              <a:t>Examples:</a:t>
            </a:r>
          </a:p>
          <a:p>
            <a:r>
              <a:rPr lang="en-US" dirty="0">
                <a:solidFill>
                  <a:schemeClr val="bg1"/>
                </a:solidFill>
              </a:rPr>
              <a:t>Colors, (blood) types, species name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CA5D1-6B0A-8E4E-9C86-34221A1A1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931" y="0"/>
            <a:ext cx="1468069" cy="1436327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640B2331-5146-DB69-5FE8-035883ED7E0F}"/>
              </a:ext>
            </a:extLst>
          </p:cNvPr>
          <p:cNvSpPr txBox="1">
            <a:spLocks/>
          </p:cNvSpPr>
          <p:nvPr/>
        </p:nvSpPr>
        <p:spPr>
          <a:xfrm>
            <a:off x="623898" y="295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: Types</a:t>
            </a:r>
          </a:p>
        </p:txBody>
      </p:sp>
    </p:spTree>
    <p:extLst>
      <p:ext uri="{BB962C8B-B14F-4D97-AF65-F5344CB8AC3E}">
        <p14:creationId xmlns:p14="http://schemas.microsoft.com/office/powerpoint/2010/main" val="37828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40FF"/>
                </a:solidFill>
              </a:rPr>
              <a:t>Data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15758-7790-E143-B9C0-30A4A38B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524" y="580505"/>
            <a:ext cx="2602786" cy="25465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D538414-ACD2-964A-B423-7D7028392317}"/>
              </a:ext>
            </a:extLst>
          </p:cNvPr>
          <p:cNvGrpSpPr/>
          <p:nvPr/>
        </p:nvGrpSpPr>
        <p:grpSpPr>
          <a:xfrm>
            <a:off x="8914796" y="3346109"/>
            <a:ext cx="2784835" cy="2626114"/>
            <a:chOff x="8914796" y="3346109"/>
            <a:chExt cx="2784835" cy="26261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2A7943-817D-984B-A335-8BEC23E9B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4796" y="3346109"/>
              <a:ext cx="2784835" cy="262611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84AD30-7C49-4642-9661-C5C64346082B}"/>
                </a:ext>
              </a:extLst>
            </p:cNvPr>
            <p:cNvSpPr/>
            <p:nvPr/>
          </p:nvSpPr>
          <p:spPr>
            <a:xfrm>
              <a:off x="9337878" y="4243516"/>
              <a:ext cx="1929689" cy="7935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dirty="0"/>
                <a:t>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0142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116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What is a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  <a:r>
              <a:rPr lang="en-US" sz="3600" dirty="0">
                <a:solidFill>
                  <a:schemeClr val="bg1"/>
                </a:solidFill>
              </a:rPr>
              <a:t>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69F944-F9FB-8943-90C7-332947819266}"/>
              </a:ext>
            </a:extLst>
          </p:cNvPr>
          <p:cNvGrpSpPr/>
          <p:nvPr/>
        </p:nvGrpSpPr>
        <p:grpSpPr>
          <a:xfrm>
            <a:off x="10213144" y="17439"/>
            <a:ext cx="1978856" cy="1808186"/>
            <a:chOff x="8914796" y="3346109"/>
            <a:chExt cx="2784835" cy="26261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9F5042-5484-E345-AB03-AE13C1061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4796" y="3346109"/>
              <a:ext cx="2784835" cy="262611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24FDA9-F0CA-704B-93EC-0B5864B0FCB6}"/>
                </a:ext>
              </a:extLst>
            </p:cNvPr>
            <p:cNvSpPr/>
            <p:nvPr/>
          </p:nvSpPr>
          <p:spPr>
            <a:xfrm>
              <a:off x="9337878" y="4243516"/>
              <a:ext cx="1929689" cy="7935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dirty="0"/>
                <a:t>Models</a:t>
              </a:r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74AEA8-0DAA-3542-B357-9DC65878F06C}"/>
              </a:ext>
            </a:extLst>
          </p:cNvPr>
          <p:cNvSpPr txBox="1">
            <a:spLocks/>
          </p:cNvSpPr>
          <p:nvPr/>
        </p:nvSpPr>
        <p:spPr>
          <a:xfrm>
            <a:off x="568570" y="34973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EBA541E-8411-F363-8AD0-4FEA37E9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80A60C-A1FA-8005-7742-2BAA73935C2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FF40FF"/>
                </a:solidFill>
              </a:rPr>
              <a:t>Data</a:t>
            </a:r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and </a:t>
            </a:r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Models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01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science?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2DB269-0FE4-6096-A3C0-4DD7808E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6B3F2DE-F3E5-7B40-7EB2-1F245A426BF9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</a:rPr>
              <a:t>the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40FF"/>
                </a:solidFill>
              </a:rPr>
              <a:t>systematic observation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of natural events and conditions in order to </a:t>
            </a:r>
            <a:r>
              <a:rPr lang="en-US">
                <a:solidFill>
                  <a:srgbClr val="00B050"/>
                </a:solidFill>
              </a:rPr>
              <a:t>discover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facts about them and to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formulate laws and principles </a:t>
            </a:r>
            <a:r>
              <a:rPr lang="en-US">
                <a:solidFill>
                  <a:srgbClr val="FFFFFF"/>
                </a:solidFill>
              </a:rPr>
              <a:t>based on these facts.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rgbClr val="FFFFFF"/>
                </a:solidFill>
              </a:rPr>
              <a:t> – </a:t>
            </a:r>
            <a:r>
              <a:rPr lang="en-US" sz="2400" i="1">
                <a:solidFill>
                  <a:srgbClr val="FFFFFF"/>
                </a:solidFill>
              </a:rPr>
              <a:t>Academic Press Dictionary of Science &amp; Technology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>
              <a:solidFill>
                <a:srgbClr val="FFFF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72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255" y="16002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Theory				General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Hypothesis				Specific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FA0F8FB-74DA-9B49-BDAD-AB12C0928851}"/>
              </a:ext>
            </a:extLst>
          </p:cNvPr>
          <p:cNvCxnSpPr/>
          <p:nvPr/>
        </p:nvCxnSpPr>
        <p:spPr>
          <a:xfrm rot="5400000">
            <a:off x="4499424" y="3359347"/>
            <a:ext cx="3530991" cy="12700"/>
          </a:xfrm>
          <a:prstGeom prst="bentConnector3">
            <a:avLst/>
          </a:prstGeom>
          <a:ln w="6985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610BFF-0C43-134D-BC09-A3F96E4B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75EC365-880A-FF10-DFF8-8DBFE3F1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FD271-3166-4282-5CFF-766CB0E93350}"/>
              </a:ext>
            </a:extLst>
          </p:cNvPr>
          <p:cNvSpPr txBox="1">
            <a:spLocks/>
          </p:cNvSpPr>
          <p:nvPr/>
        </p:nvSpPr>
        <p:spPr>
          <a:xfrm>
            <a:off x="838200" y="3269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Laws and Principles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5985B-37B0-7C12-73DB-A549B2DEA5E1}"/>
              </a:ext>
            </a:extLst>
          </p:cNvPr>
          <p:cNvSpPr txBox="1"/>
          <p:nvPr/>
        </p:nvSpPr>
        <p:spPr>
          <a:xfrm>
            <a:off x="2207276" y="2039434"/>
            <a:ext cx="3381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declaration to explain a phenomenon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5B8FD-B558-564B-D682-7B9782E18040}"/>
              </a:ext>
            </a:extLst>
          </p:cNvPr>
          <p:cNvSpPr txBox="1"/>
          <p:nvPr/>
        </p:nvSpPr>
        <p:spPr>
          <a:xfrm>
            <a:off x="2194028" y="3757117"/>
            <a:ext cx="4206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abstract representation of a phenomenon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69CD8-15A9-B085-42DA-476C595EC6B5}"/>
              </a:ext>
            </a:extLst>
          </p:cNvPr>
          <p:cNvSpPr txBox="1"/>
          <p:nvPr/>
        </p:nvSpPr>
        <p:spPr>
          <a:xfrm>
            <a:off x="2155928" y="5131193"/>
            <a:ext cx="33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testable declaration that is derived from a theory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842BEB-2ABD-0492-83B7-A53E2649A39B}"/>
              </a:ext>
            </a:extLst>
          </p:cNvPr>
          <p:cNvSpPr/>
          <p:nvPr/>
        </p:nvSpPr>
        <p:spPr>
          <a:xfrm>
            <a:off x="2207276" y="2039434"/>
            <a:ext cx="2555224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46E950-32F4-09BE-91FC-FC3AC118ACD2}"/>
              </a:ext>
            </a:extLst>
          </p:cNvPr>
          <p:cNvSpPr/>
          <p:nvPr/>
        </p:nvSpPr>
        <p:spPr>
          <a:xfrm>
            <a:off x="2058698" y="3595049"/>
            <a:ext cx="3253926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96DDA-49E6-B0BE-7C27-D3B5CB2AA45A}"/>
              </a:ext>
            </a:extLst>
          </p:cNvPr>
          <p:cNvSpPr/>
          <p:nvPr/>
        </p:nvSpPr>
        <p:spPr>
          <a:xfrm>
            <a:off x="2155928" y="5155698"/>
            <a:ext cx="3253926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23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255" y="16002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Theory				General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Hypothesis				Specific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FA0F8FB-74DA-9B49-BDAD-AB12C0928851}"/>
              </a:ext>
            </a:extLst>
          </p:cNvPr>
          <p:cNvCxnSpPr/>
          <p:nvPr/>
        </p:nvCxnSpPr>
        <p:spPr>
          <a:xfrm rot="5400000">
            <a:off x="4499424" y="3359347"/>
            <a:ext cx="3530991" cy="12700"/>
          </a:xfrm>
          <a:prstGeom prst="bentConnector3">
            <a:avLst/>
          </a:prstGeom>
          <a:ln w="6985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610BFF-0C43-134D-BC09-A3F96E4B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75EC365-880A-FF10-DFF8-8DBFE3F1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FD271-3166-4282-5CFF-766CB0E93350}"/>
              </a:ext>
            </a:extLst>
          </p:cNvPr>
          <p:cNvSpPr txBox="1">
            <a:spLocks/>
          </p:cNvSpPr>
          <p:nvPr/>
        </p:nvSpPr>
        <p:spPr>
          <a:xfrm>
            <a:off x="838200" y="3269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Laws and Principles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5985B-37B0-7C12-73DB-A549B2DEA5E1}"/>
              </a:ext>
            </a:extLst>
          </p:cNvPr>
          <p:cNvSpPr txBox="1"/>
          <p:nvPr/>
        </p:nvSpPr>
        <p:spPr>
          <a:xfrm>
            <a:off x="2207276" y="2039434"/>
            <a:ext cx="3381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declaration to explain a phenomenon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5B8FD-B558-564B-D682-7B9782E18040}"/>
              </a:ext>
            </a:extLst>
          </p:cNvPr>
          <p:cNvSpPr txBox="1"/>
          <p:nvPr/>
        </p:nvSpPr>
        <p:spPr>
          <a:xfrm>
            <a:off x="2194028" y="3757117"/>
            <a:ext cx="4206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abstract representation of a phenomenon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69CD8-15A9-B085-42DA-476C595EC6B5}"/>
              </a:ext>
            </a:extLst>
          </p:cNvPr>
          <p:cNvSpPr txBox="1"/>
          <p:nvPr/>
        </p:nvSpPr>
        <p:spPr>
          <a:xfrm>
            <a:off x="2155928" y="5131193"/>
            <a:ext cx="33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testable declaration that is derived from a theory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76EB25-9E85-CCD2-4BFE-57D398C9C8DF}"/>
              </a:ext>
            </a:extLst>
          </p:cNvPr>
          <p:cNvSpPr/>
          <p:nvPr/>
        </p:nvSpPr>
        <p:spPr>
          <a:xfrm>
            <a:off x="2058698" y="3595049"/>
            <a:ext cx="3253926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BDC98-48D8-5D8E-3B7F-19B9F55A1B5F}"/>
              </a:ext>
            </a:extLst>
          </p:cNvPr>
          <p:cNvSpPr/>
          <p:nvPr/>
        </p:nvSpPr>
        <p:spPr>
          <a:xfrm>
            <a:off x="2155928" y="5155698"/>
            <a:ext cx="3253926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65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255" y="16002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Theory				General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Hypothesis				Specific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FA0F8FB-74DA-9B49-BDAD-AB12C0928851}"/>
              </a:ext>
            </a:extLst>
          </p:cNvPr>
          <p:cNvCxnSpPr/>
          <p:nvPr/>
        </p:nvCxnSpPr>
        <p:spPr>
          <a:xfrm rot="5400000">
            <a:off x="4499424" y="3359347"/>
            <a:ext cx="3530991" cy="12700"/>
          </a:xfrm>
          <a:prstGeom prst="bentConnector3">
            <a:avLst/>
          </a:prstGeom>
          <a:ln w="6985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610BFF-0C43-134D-BC09-A3F96E4B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75EC365-880A-FF10-DFF8-8DBFE3F1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FD271-3166-4282-5CFF-766CB0E93350}"/>
              </a:ext>
            </a:extLst>
          </p:cNvPr>
          <p:cNvSpPr txBox="1">
            <a:spLocks/>
          </p:cNvSpPr>
          <p:nvPr/>
        </p:nvSpPr>
        <p:spPr>
          <a:xfrm>
            <a:off x="838200" y="3269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Laws and Principles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5985B-37B0-7C12-73DB-A549B2DEA5E1}"/>
              </a:ext>
            </a:extLst>
          </p:cNvPr>
          <p:cNvSpPr txBox="1"/>
          <p:nvPr/>
        </p:nvSpPr>
        <p:spPr>
          <a:xfrm>
            <a:off x="2207276" y="2039434"/>
            <a:ext cx="3381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declaration to explain a phenomenon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5B8FD-B558-564B-D682-7B9782E18040}"/>
              </a:ext>
            </a:extLst>
          </p:cNvPr>
          <p:cNvSpPr txBox="1"/>
          <p:nvPr/>
        </p:nvSpPr>
        <p:spPr>
          <a:xfrm>
            <a:off x="2194028" y="3757117"/>
            <a:ext cx="4206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abstract representation of a phenomenon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69CD8-15A9-B085-42DA-476C595EC6B5}"/>
              </a:ext>
            </a:extLst>
          </p:cNvPr>
          <p:cNvSpPr txBox="1"/>
          <p:nvPr/>
        </p:nvSpPr>
        <p:spPr>
          <a:xfrm>
            <a:off x="2155928" y="5131193"/>
            <a:ext cx="33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testable declaration that is derived from a theory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93380-8A45-2B66-19F5-BFFC9E6237C1}"/>
              </a:ext>
            </a:extLst>
          </p:cNvPr>
          <p:cNvSpPr/>
          <p:nvPr/>
        </p:nvSpPr>
        <p:spPr>
          <a:xfrm>
            <a:off x="2155928" y="5155698"/>
            <a:ext cx="3253926" cy="9704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71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255" y="16002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Theory				General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Hypothesis				Specific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FA0F8FB-74DA-9B49-BDAD-AB12C0928851}"/>
              </a:ext>
            </a:extLst>
          </p:cNvPr>
          <p:cNvCxnSpPr/>
          <p:nvPr/>
        </p:nvCxnSpPr>
        <p:spPr>
          <a:xfrm rot="5400000">
            <a:off x="4499424" y="3359347"/>
            <a:ext cx="3530991" cy="12700"/>
          </a:xfrm>
          <a:prstGeom prst="bentConnector3">
            <a:avLst/>
          </a:prstGeom>
          <a:ln w="6985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610BFF-0C43-134D-BC09-A3F96E4B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75EC365-880A-FF10-DFF8-8DBFE3F1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FD271-3166-4282-5CFF-766CB0E93350}"/>
              </a:ext>
            </a:extLst>
          </p:cNvPr>
          <p:cNvSpPr txBox="1">
            <a:spLocks/>
          </p:cNvSpPr>
          <p:nvPr/>
        </p:nvSpPr>
        <p:spPr>
          <a:xfrm>
            <a:off x="838200" y="3269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Laws and Principles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5985B-37B0-7C12-73DB-A549B2DEA5E1}"/>
              </a:ext>
            </a:extLst>
          </p:cNvPr>
          <p:cNvSpPr txBox="1"/>
          <p:nvPr/>
        </p:nvSpPr>
        <p:spPr>
          <a:xfrm>
            <a:off x="2207276" y="2039434"/>
            <a:ext cx="3381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declaration to explain a phenomenon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5B8FD-B558-564B-D682-7B9782E18040}"/>
              </a:ext>
            </a:extLst>
          </p:cNvPr>
          <p:cNvSpPr txBox="1"/>
          <p:nvPr/>
        </p:nvSpPr>
        <p:spPr>
          <a:xfrm>
            <a:off x="2194028" y="3757117"/>
            <a:ext cx="4206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abstract representation of a phenomenon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69CD8-15A9-B085-42DA-476C595EC6B5}"/>
              </a:ext>
            </a:extLst>
          </p:cNvPr>
          <p:cNvSpPr txBox="1"/>
          <p:nvPr/>
        </p:nvSpPr>
        <p:spPr>
          <a:xfrm>
            <a:off x="2155928" y="5131193"/>
            <a:ext cx="33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testable declaration that is derived from a theory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18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Models</a:t>
            </a:r>
            <a:r>
              <a:rPr lang="en-US" b="1" dirty="0"/>
              <a:t>:</a:t>
            </a:r>
            <a:r>
              <a:rPr lang="en-US" dirty="0"/>
              <a:t> many types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" r="2469" b="-3"/>
          <a:stretch/>
        </p:blipFill>
        <p:spPr>
          <a:xfrm>
            <a:off x="7972940" y="1810923"/>
            <a:ext cx="2418889" cy="17598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5" r="1" b="38565"/>
          <a:stretch/>
        </p:blipFill>
        <p:spPr>
          <a:xfrm>
            <a:off x="2031632" y="1810923"/>
            <a:ext cx="2235568" cy="18879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" r="-2" b="-2"/>
          <a:stretch/>
        </p:blipFill>
        <p:spPr>
          <a:xfrm>
            <a:off x="4879852" y="1810922"/>
            <a:ext cx="2589535" cy="18879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657"/>
          <a:stretch/>
        </p:blipFill>
        <p:spPr>
          <a:xfrm>
            <a:off x="2031632" y="4261641"/>
            <a:ext cx="2235568" cy="18856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853" y="4261640"/>
            <a:ext cx="2318807" cy="22251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59" y="4133509"/>
            <a:ext cx="2707033" cy="21077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40107" y="1518692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0870" y="3970362"/>
            <a:ext cx="20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Ecology </a:t>
            </a:r>
            <a:r>
              <a:rPr lang="en-US"/>
              <a:t>&amp; Evolution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862256" y="1490839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549689" y="1479338"/>
            <a:ext cx="11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4139" y="3948843"/>
            <a:ext cx="89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Climate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79928" y="3857837"/>
            <a:ext cx="1039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Economy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217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2" y="950407"/>
            <a:ext cx="9420361" cy="45259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When you make a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  <a:r>
              <a:rPr lang="en-US" sz="36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	you include the 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elements that you feel are most important </a:t>
            </a:r>
            <a:r>
              <a:rPr lang="en-US" sz="3600" dirty="0">
                <a:solidFill>
                  <a:schemeClr val="bg1"/>
                </a:solidFill>
              </a:rPr>
              <a:t>	to explain a phenomenon.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C18EC-C71C-A546-97F4-6563CC52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618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9C18EC-C71C-A546-97F4-6563CC52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BF0A05-B764-B6D2-A626-BFE8A6C2B816}"/>
              </a:ext>
            </a:extLst>
          </p:cNvPr>
          <p:cNvSpPr txBox="1">
            <a:spLocks/>
          </p:cNvSpPr>
          <p:nvPr/>
        </p:nvSpPr>
        <p:spPr>
          <a:xfrm>
            <a:off x="394989" y="921532"/>
            <a:ext cx="942036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When you make a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  <a:r>
              <a:rPr lang="en-US" sz="36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bg1"/>
                </a:solidFill>
              </a:rPr>
              <a:t>	you include the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elements that you feel are most important </a:t>
            </a:r>
            <a:r>
              <a:rPr lang="en-US" sz="3600" dirty="0">
                <a:solidFill>
                  <a:schemeClr val="bg1"/>
                </a:solidFill>
              </a:rPr>
              <a:t>	to explain a phenomenon.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Generally, we try to make </a:t>
            </a:r>
            <a:r>
              <a:rPr lang="en-US" sz="3600" dirty="0">
                <a:solidFill>
                  <a:schemeClr val="accent1"/>
                </a:solidFill>
              </a:rPr>
              <a:t>models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	that can reproduce real-world </a:t>
            </a:r>
            <a:r>
              <a:rPr lang="en-US" sz="3600" dirty="0">
                <a:solidFill>
                  <a:srgbClr val="FF40FF"/>
                </a:solidFill>
              </a:rPr>
              <a:t>data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66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9C18EC-C71C-A546-97F4-6563CC52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BF0A05-B764-B6D2-A626-BFE8A6C2B816}"/>
              </a:ext>
            </a:extLst>
          </p:cNvPr>
          <p:cNvSpPr txBox="1">
            <a:spLocks/>
          </p:cNvSpPr>
          <p:nvPr/>
        </p:nvSpPr>
        <p:spPr>
          <a:xfrm>
            <a:off x="394989" y="921532"/>
            <a:ext cx="9420361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When you make a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  <a:r>
              <a:rPr lang="en-US" sz="36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bg1"/>
                </a:solidFill>
              </a:rPr>
              <a:t>	you include the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elements that you feel are most important </a:t>
            </a:r>
            <a:r>
              <a:rPr lang="en-US" sz="3600" dirty="0">
                <a:solidFill>
                  <a:schemeClr val="bg1"/>
                </a:solidFill>
              </a:rPr>
              <a:t>	to explain a phenomenon.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Generally, we try to make </a:t>
            </a:r>
            <a:r>
              <a:rPr lang="en-US" sz="3600" dirty="0">
                <a:solidFill>
                  <a:schemeClr val="accent1"/>
                </a:solidFill>
              </a:rPr>
              <a:t>models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	that can reproduce real-world </a:t>
            </a:r>
            <a:r>
              <a:rPr lang="en-US" sz="3600" dirty="0">
                <a:solidFill>
                  <a:srgbClr val="FF40FF"/>
                </a:solidFill>
              </a:rPr>
              <a:t>data</a:t>
            </a:r>
          </a:p>
          <a:p>
            <a:r>
              <a:rPr lang="en-US" sz="3600" dirty="0">
                <a:solidFill>
                  <a:schemeClr val="bg1"/>
                </a:solidFill>
              </a:rPr>
              <a:t>In E</a:t>
            </a:r>
            <a:r>
              <a:rPr lang="en-US" sz="3600" baseline="30000" dirty="0">
                <a:solidFill>
                  <a:schemeClr val="bg1"/>
                </a:solidFill>
              </a:rPr>
              <a:t>2</a:t>
            </a:r>
            <a:r>
              <a:rPr lang="en-US" sz="3600" dirty="0">
                <a:solidFill>
                  <a:schemeClr val="bg1"/>
                </a:solidFill>
              </a:rPr>
              <a:t>M</a:t>
            </a:r>
            <a:r>
              <a:rPr lang="en-US" sz="3600" baseline="30000" dirty="0">
                <a:solidFill>
                  <a:schemeClr val="bg1"/>
                </a:solidFill>
              </a:rPr>
              <a:t>2</a:t>
            </a:r>
            <a:r>
              <a:rPr lang="en-US" sz="3600" dirty="0">
                <a:solidFill>
                  <a:schemeClr val="bg1"/>
                </a:solidFill>
              </a:rPr>
              <a:t>, we distinguish between 		</a:t>
            </a:r>
            <a:r>
              <a:rPr lang="en-US" sz="3600" dirty="0">
                <a:solidFill>
                  <a:srgbClr val="00B050"/>
                </a:solidFill>
              </a:rPr>
              <a:t>	statistical </a:t>
            </a:r>
            <a:r>
              <a:rPr lang="en-US" sz="3600" dirty="0">
                <a:solidFill>
                  <a:schemeClr val="bg1"/>
                </a:solidFill>
              </a:rPr>
              <a:t>and </a:t>
            </a:r>
            <a:r>
              <a:rPr lang="en-US" sz="3600" dirty="0">
                <a:solidFill>
                  <a:srgbClr val="00B050"/>
                </a:solidFill>
              </a:rPr>
              <a:t>mechanistic</a:t>
            </a:r>
            <a:r>
              <a:rPr lang="en-US" sz="3600" dirty="0">
                <a:solidFill>
                  <a:schemeClr val="bg1"/>
                </a:solidFill>
              </a:rPr>
              <a:t> models</a:t>
            </a:r>
          </a:p>
          <a:p>
            <a:pPr marL="0" indent="0">
              <a:buNone/>
            </a:pPr>
            <a:endParaRPr lang="en-US" sz="3600" dirty="0">
              <a:solidFill>
                <a:srgbClr val="FF40FF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9841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972" y="25875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vs. Mathematical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227" y="1527486"/>
            <a:ext cx="7886700" cy="406587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/>
              <a:t>The choice depends on the research question!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1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1273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rigorously </a:t>
            </a:r>
            <a:r>
              <a:rPr lang="en-US" sz="3200" b="1" dirty="0">
                <a:solidFill>
                  <a:schemeClr val="accent2"/>
                </a:solidFill>
              </a:rPr>
              <a:t>assess</a:t>
            </a:r>
            <a:r>
              <a:rPr lang="en-US" sz="3200" dirty="0">
                <a:solidFill>
                  <a:schemeClr val="bg1"/>
                </a:solidFill>
              </a:rPr>
              <a:t> the strength of relationship between x and y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3104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1273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rigorously </a:t>
            </a:r>
            <a:r>
              <a:rPr lang="en-US" sz="3200" b="1" dirty="0">
                <a:solidFill>
                  <a:schemeClr val="accent2"/>
                </a:solidFill>
              </a:rPr>
              <a:t>assess</a:t>
            </a:r>
            <a:r>
              <a:rPr lang="en-US" sz="3200" dirty="0">
                <a:solidFill>
                  <a:schemeClr val="bg1"/>
                </a:solidFill>
              </a:rPr>
              <a:t> the strength of relationship between x and 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4581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1273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rigorously </a:t>
            </a:r>
            <a:r>
              <a:rPr lang="en-US" sz="3200" b="1" dirty="0">
                <a:solidFill>
                  <a:schemeClr val="accent2"/>
                </a:solidFill>
              </a:rPr>
              <a:t>assess</a:t>
            </a:r>
            <a:r>
              <a:rPr lang="en-US" sz="3200" dirty="0">
                <a:solidFill>
                  <a:schemeClr val="bg1"/>
                </a:solidFill>
              </a:rPr>
              <a:t> the strength of relationship between x and 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Statistical models can demonstrate correlations.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2990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-15688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48885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rigorously </a:t>
            </a:r>
            <a:r>
              <a:rPr lang="en-US" sz="3200" b="1" dirty="0">
                <a:solidFill>
                  <a:schemeClr val="accent2"/>
                </a:solidFill>
              </a:rPr>
              <a:t>assess</a:t>
            </a:r>
            <a:r>
              <a:rPr lang="en-US" sz="3200" dirty="0">
                <a:solidFill>
                  <a:schemeClr val="bg1"/>
                </a:solidFill>
              </a:rPr>
              <a:t> the strength of relationship between x and y (describe patterns)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Statistical models can demonstrate correlations.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Steps: 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Formulate a research question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Formulate a hypothesis 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Develop a model to demonstrate your hypothesis.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Collect </a:t>
            </a:r>
            <a:r>
              <a:rPr lang="en-US" sz="2800" b="1" dirty="0">
                <a:solidFill>
                  <a:srgbClr val="FF40FF"/>
                </a:solidFill>
              </a:rPr>
              <a:t>data (required!!!)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Evaluate hypothesis with appropriate statistical tools</a:t>
            </a:r>
          </a:p>
          <a:p>
            <a:pPr lvl="2"/>
            <a:r>
              <a:rPr lang="en-US" sz="1600" dirty="0">
                <a:solidFill>
                  <a:schemeClr val="bg1"/>
                </a:solidFill>
              </a:rPr>
              <a:t>t-test, Chi-square, ANOVA</a:t>
            </a:r>
          </a:p>
          <a:p>
            <a:pPr lvl="2"/>
            <a:r>
              <a:rPr lang="en-US" sz="1600" dirty="0">
                <a:solidFill>
                  <a:schemeClr val="bg1"/>
                </a:solidFill>
              </a:rPr>
              <a:t>Ordination (PCA)</a:t>
            </a:r>
          </a:p>
          <a:p>
            <a:pPr lvl="2"/>
            <a:r>
              <a:rPr lang="en-US" sz="1600" dirty="0">
                <a:solidFill>
                  <a:schemeClr val="bg1"/>
                </a:solidFill>
              </a:rPr>
              <a:t>Regression (LM, GLM, GLMM, GAM)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48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007" y="365125"/>
            <a:ext cx="11087793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What</a:t>
            </a:r>
            <a:r>
              <a:rPr lang="en-US" dirty="0">
                <a:solidFill>
                  <a:schemeClr val="bg1"/>
                </a:solidFill>
              </a:rPr>
              <a:t> is the trajectory of Malagasy population size through time?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EC7F53-87E0-F348-A971-FF989655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359" y="2031061"/>
            <a:ext cx="53975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09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EC7F53-87E0-F348-A971-FF989655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885" y="1825625"/>
            <a:ext cx="5397500" cy="431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1518DD-CE04-0E42-B1F4-FCA905BC1B43}"/>
              </a:ext>
            </a:extLst>
          </p:cNvPr>
          <p:cNvSpPr txBox="1">
            <a:spLocks/>
          </p:cNvSpPr>
          <p:nvPr/>
        </p:nvSpPr>
        <p:spPr>
          <a:xfrm>
            <a:off x="266007" y="1843088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with time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7FEC3A-09EF-4A4A-9E85-D5E0EBB3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" y="365125"/>
            <a:ext cx="10158153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What</a:t>
            </a:r>
            <a:r>
              <a:rPr lang="en-US" dirty="0">
                <a:solidFill>
                  <a:schemeClr val="bg1"/>
                </a:solidFill>
              </a:rPr>
              <a:t> is the trajectory of Malagasy population size through time?</a:t>
            </a:r>
          </a:p>
        </p:txBody>
      </p:sp>
    </p:spTree>
    <p:extLst>
      <p:ext uri="{BB962C8B-B14F-4D97-AF65-F5344CB8AC3E}">
        <p14:creationId xmlns:p14="http://schemas.microsoft.com/office/powerpoint/2010/main" val="18392280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EC7F53-87E0-F348-A971-FF989655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885" y="1825625"/>
            <a:ext cx="5397500" cy="431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1518DD-CE04-0E42-B1F4-FCA905BC1B43}"/>
              </a:ext>
            </a:extLst>
          </p:cNvPr>
          <p:cNvSpPr txBox="1">
            <a:spLocks/>
          </p:cNvSpPr>
          <p:nvPr/>
        </p:nvSpPr>
        <p:spPr>
          <a:xfrm>
            <a:off x="266007" y="1843088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with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Statistical Model: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08E684-29AB-CF42-9026-E8B9E72C151C}"/>
                  </a:ext>
                </a:extLst>
              </p:cNvPr>
              <p:cNvSpPr/>
              <p:nvPr/>
            </p:nvSpPr>
            <p:spPr>
              <a:xfrm>
                <a:off x="692727" y="3481265"/>
                <a:ext cx="2111434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08E684-29AB-CF42-9026-E8B9E72C1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27" y="3481265"/>
                <a:ext cx="2111434" cy="538609"/>
              </a:xfrm>
              <a:prstGeom prst="rect">
                <a:avLst/>
              </a:prstGeom>
              <a:blipFill>
                <a:blip r:embed="rId4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A8F4855-1EE0-6944-A89F-9763F5AFECA4}"/>
              </a:ext>
            </a:extLst>
          </p:cNvPr>
          <p:cNvSpPr txBox="1"/>
          <p:nvPr/>
        </p:nvSpPr>
        <p:spPr>
          <a:xfrm>
            <a:off x="560362" y="3941441"/>
            <a:ext cx="2376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Linear Regression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D1C62B-1F88-0773-E241-32CC4341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83EE15-7391-C9DB-1458-DEA10C169D34}"/>
              </a:ext>
            </a:extLst>
          </p:cNvPr>
          <p:cNvSpPr txBox="1">
            <a:spLocks/>
          </p:cNvSpPr>
          <p:nvPr/>
        </p:nvSpPr>
        <p:spPr>
          <a:xfrm>
            <a:off x="266007" y="365125"/>
            <a:ext cx="10158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1. Example Question: </a:t>
            </a:r>
            <a:r>
              <a:rPr lang="en-US" b="1">
                <a:solidFill>
                  <a:srgbClr val="00B050"/>
                </a:solidFill>
              </a:rPr>
              <a:t>What</a:t>
            </a:r>
            <a:r>
              <a:rPr lang="en-US">
                <a:solidFill>
                  <a:schemeClr val="bg1"/>
                </a:solidFill>
              </a:rPr>
              <a:t> is the trajectory of Malagasy population size through time?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3272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EC7F53-87E0-F348-A971-FF989655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50" y="2038374"/>
            <a:ext cx="5397500" cy="431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1518DD-CE04-0E42-B1F4-FCA905BC1B43}"/>
              </a:ext>
            </a:extLst>
          </p:cNvPr>
          <p:cNvSpPr txBox="1">
            <a:spLocks/>
          </p:cNvSpPr>
          <p:nvPr/>
        </p:nvSpPr>
        <p:spPr>
          <a:xfrm>
            <a:off x="266007" y="1843088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with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Statistical Model: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08E684-29AB-CF42-9026-E8B9E72C151C}"/>
                  </a:ext>
                </a:extLst>
              </p:cNvPr>
              <p:cNvSpPr/>
              <p:nvPr/>
            </p:nvSpPr>
            <p:spPr>
              <a:xfrm>
                <a:off x="692727" y="3481265"/>
                <a:ext cx="2111434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08E684-29AB-CF42-9026-E8B9E72C1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27" y="3481265"/>
                <a:ext cx="2111434" cy="538609"/>
              </a:xfrm>
              <a:prstGeom prst="rect">
                <a:avLst/>
              </a:prstGeom>
              <a:blipFill>
                <a:blip r:embed="rId4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A8F4855-1EE0-6944-A89F-9763F5AFECA4}"/>
              </a:ext>
            </a:extLst>
          </p:cNvPr>
          <p:cNvSpPr txBox="1"/>
          <p:nvPr/>
        </p:nvSpPr>
        <p:spPr>
          <a:xfrm>
            <a:off x="560362" y="3941441"/>
            <a:ext cx="2376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Linear Regression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BF70D3-3862-AD47-B48D-FC3D40A5AB80}"/>
              </a:ext>
            </a:extLst>
          </p:cNvPr>
          <p:cNvSpPr txBox="1">
            <a:spLocks/>
          </p:cNvSpPr>
          <p:nvPr/>
        </p:nvSpPr>
        <p:spPr>
          <a:xfrm>
            <a:off x="4078250" y="1539817"/>
            <a:ext cx="3266134" cy="2210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 Data: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003959-2597-09DA-82DE-646E0C4A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15BB2-8DD1-9D09-D43C-5CA6202F60C3}"/>
              </a:ext>
            </a:extLst>
          </p:cNvPr>
          <p:cNvSpPr txBox="1">
            <a:spLocks/>
          </p:cNvSpPr>
          <p:nvPr/>
        </p:nvSpPr>
        <p:spPr>
          <a:xfrm>
            <a:off x="266007" y="365125"/>
            <a:ext cx="10158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1. Example Question: </a:t>
            </a:r>
            <a:r>
              <a:rPr lang="en-US" b="1">
                <a:solidFill>
                  <a:srgbClr val="00B050"/>
                </a:solidFill>
              </a:rPr>
              <a:t>What</a:t>
            </a:r>
            <a:r>
              <a:rPr lang="en-US">
                <a:solidFill>
                  <a:schemeClr val="bg1"/>
                </a:solidFill>
              </a:rPr>
              <a:t> is the trajectory of Malagasy population size through time?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935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C03743-E43D-F643-8952-EC2E147CE6B9}"/>
                  </a:ext>
                </a:extLst>
              </p:cNvPr>
              <p:cNvSpPr/>
              <p:nvPr/>
            </p:nvSpPr>
            <p:spPr>
              <a:xfrm>
                <a:off x="573249" y="3492751"/>
                <a:ext cx="2111434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9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C03743-E43D-F643-8952-EC2E147CE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9" y="3492751"/>
                <a:ext cx="2111434" cy="538609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4ED600-5AA7-0A4C-93F1-AD5D0FF8BABD}"/>
                  </a:ext>
                </a:extLst>
              </p:cNvPr>
              <p:cNvSpPr/>
              <p:nvPr/>
            </p:nvSpPr>
            <p:spPr>
              <a:xfrm>
                <a:off x="553157" y="4594105"/>
                <a:ext cx="3075709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.372 </m:t>
                      </m:r>
                      <m:r>
                        <m:rPr>
                          <m:sty m:val="p"/>
                        </m:rPr>
                        <a:rPr lang="en-US" sz="29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million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4ED600-5AA7-0A4C-93F1-AD5D0FF8B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57" y="4594105"/>
                <a:ext cx="3075709" cy="538609"/>
              </a:xfrm>
              <a:prstGeom prst="rect">
                <a:avLst/>
              </a:prstGeom>
              <a:blipFill>
                <a:blip r:embed="rId4"/>
                <a:stretch>
                  <a:fillRect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C8913D-033C-7A42-B17E-6E7BE97162F5}"/>
                  </a:ext>
                </a:extLst>
              </p:cNvPr>
              <p:cNvSpPr/>
              <p:nvPr/>
            </p:nvSpPr>
            <p:spPr>
              <a:xfrm>
                <a:off x="0" y="5132714"/>
                <a:ext cx="2749382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.003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C8913D-033C-7A42-B17E-6E7BE9716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32714"/>
                <a:ext cx="2749382" cy="538609"/>
              </a:xfrm>
              <a:prstGeom prst="rect">
                <a:avLst/>
              </a:prstGeom>
              <a:blipFill>
                <a:blip r:embed="rId5"/>
                <a:stretch>
                  <a:fillRect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D44E280-F4B9-F541-84B2-1D18B6CE641D}"/>
              </a:ext>
            </a:extLst>
          </p:cNvPr>
          <p:cNvGrpSpPr/>
          <p:nvPr/>
        </p:nvGrpSpPr>
        <p:grpSpPr>
          <a:xfrm>
            <a:off x="4061574" y="1932305"/>
            <a:ext cx="5454996" cy="4318000"/>
            <a:chOff x="3909174" y="1825625"/>
            <a:chExt cx="5454996" cy="431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200967-0B8F-AC46-BD10-1DF979D8A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9174" y="1825625"/>
              <a:ext cx="5397500" cy="4318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65A7876-4F85-F045-990E-70DA22160DD7}"/>
                    </a:ext>
                  </a:extLst>
                </p:cNvPr>
                <p:cNvSpPr/>
                <p:nvPr/>
              </p:nvSpPr>
              <p:spPr>
                <a:xfrm>
                  <a:off x="7713225" y="5055527"/>
                  <a:ext cx="165094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2000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 .96</m:t>
                        </m:r>
                      </m:oMath>
                    </m:oMathPara>
                  </a14:m>
                  <a:endParaRPr lang="en-US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65A7876-4F85-F045-990E-70DA22160D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3225" y="5055527"/>
                  <a:ext cx="165094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CF525F-17B4-2A45-9CFB-8B0F98CB179B}"/>
                </a:ext>
              </a:extLst>
            </p:cNvPr>
            <p:cNvSpPr txBox="1"/>
            <p:nvPr/>
          </p:nvSpPr>
          <p:spPr>
            <a:xfrm>
              <a:off x="5610397" y="1894365"/>
              <a:ext cx="23761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Linear Regression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0C546C8-B3C3-174B-833D-B1A2B0B1B56C}"/>
              </a:ext>
            </a:extLst>
          </p:cNvPr>
          <p:cNvSpPr/>
          <p:nvPr/>
        </p:nvSpPr>
        <p:spPr>
          <a:xfrm>
            <a:off x="2295120" y="6264422"/>
            <a:ext cx="7286483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900" dirty="0">
                <a:solidFill>
                  <a:schemeClr val="bg1"/>
                </a:solidFill>
              </a:rPr>
              <a:t>What can we conclude from this fitted model?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CA759F7-AC43-C54E-B395-A3B40105D76B}"/>
              </a:ext>
            </a:extLst>
          </p:cNvPr>
          <p:cNvSpPr txBox="1">
            <a:spLocks/>
          </p:cNvSpPr>
          <p:nvPr/>
        </p:nvSpPr>
        <p:spPr>
          <a:xfrm>
            <a:off x="171800" y="1801886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with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Statistical Model: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5. Evaluation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1838899-24FA-7543-98BC-A3CBEFE52DB4}"/>
              </a:ext>
            </a:extLst>
          </p:cNvPr>
          <p:cNvSpPr txBox="1">
            <a:spLocks/>
          </p:cNvSpPr>
          <p:nvPr/>
        </p:nvSpPr>
        <p:spPr>
          <a:xfrm>
            <a:off x="4078250" y="1539817"/>
            <a:ext cx="3266134" cy="2210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 Data: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CF69A7-A644-874F-3F2C-79E8E02D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7362496-2429-AFD7-3B93-53D00B200BF5}"/>
              </a:ext>
            </a:extLst>
          </p:cNvPr>
          <p:cNvSpPr txBox="1">
            <a:spLocks/>
          </p:cNvSpPr>
          <p:nvPr/>
        </p:nvSpPr>
        <p:spPr>
          <a:xfrm>
            <a:off x="266007" y="365125"/>
            <a:ext cx="10158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1. Example Question: </a:t>
            </a:r>
            <a:r>
              <a:rPr lang="en-US" b="1">
                <a:solidFill>
                  <a:srgbClr val="00B050"/>
                </a:solidFill>
              </a:rPr>
              <a:t>What</a:t>
            </a:r>
            <a:r>
              <a:rPr lang="en-US">
                <a:solidFill>
                  <a:schemeClr val="bg1"/>
                </a:solidFill>
              </a:rPr>
              <a:t> is the trajectory of Malagasy population size through time?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02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C03743-E43D-F643-8952-EC2E147CE6B9}"/>
                  </a:ext>
                </a:extLst>
              </p:cNvPr>
              <p:cNvSpPr/>
              <p:nvPr/>
            </p:nvSpPr>
            <p:spPr>
              <a:xfrm>
                <a:off x="117310" y="2603701"/>
                <a:ext cx="3009634" cy="555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𝑚𝑥</m:t>
                          </m:r>
                          <m:r>
                            <a:rPr lang="en-US" sz="2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C03743-E43D-F643-8952-EC2E147CE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10" y="2603701"/>
                <a:ext cx="3009634" cy="555217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4ED600-5AA7-0A4C-93F1-AD5D0FF8BABD}"/>
                  </a:ext>
                </a:extLst>
              </p:cNvPr>
              <p:cNvSpPr/>
              <p:nvPr/>
            </p:nvSpPr>
            <p:spPr>
              <a:xfrm>
                <a:off x="266000" y="3810138"/>
                <a:ext cx="3823856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9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9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=0.029</m:t>
                    </m:r>
                  </m:oMath>
                </a14:m>
                <a:r>
                  <a:rPr lang="en-US" sz="2900" dirty="0">
                    <a:solidFill>
                      <a:schemeClr val="bg1"/>
                    </a:solidFill>
                  </a:rPr>
                  <a:t> mil.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4ED600-5AA7-0A4C-93F1-AD5D0FF8B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0" y="3810138"/>
                <a:ext cx="3823856" cy="538609"/>
              </a:xfrm>
              <a:prstGeom prst="rect">
                <a:avLst/>
              </a:prstGeom>
              <a:blipFill>
                <a:blip r:embed="rId4"/>
                <a:stretch>
                  <a:fillRect t="-1395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C8913D-033C-7A42-B17E-6E7BE97162F5}"/>
                  </a:ext>
                </a:extLst>
              </p:cNvPr>
              <p:cNvSpPr/>
              <p:nvPr/>
            </p:nvSpPr>
            <p:spPr>
              <a:xfrm>
                <a:off x="-458148" y="4429368"/>
                <a:ext cx="3075709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&lt;.001</m:t>
                      </m:r>
                    </m:oMath>
                  </m:oMathPara>
                </a14:m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C8913D-033C-7A42-B17E-6E7BE9716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8148" y="4429368"/>
                <a:ext cx="3075709" cy="538609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CEAA6AC-30B4-B940-A30C-73C4B6020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511" y="1825625"/>
            <a:ext cx="5397500" cy="431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816846-E8BE-514D-A071-053B13BA003E}"/>
                  </a:ext>
                </a:extLst>
              </p:cNvPr>
              <p:cNvSpPr/>
              <p:nvPr/>
            </p:nvSpPr>
            <p:spPr>
              <a:xfrm>
                <a:off x="7713225" y="5055527"/>
                <a:ext cx="165094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000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.99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816846-E8BE-514D-A071-053B13BA00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25" y="5055527"/>
                <a:ext cx="1650945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C850A4E-3B3D-974C-80E5-ABF696281B0A}"/>
              </a:ext>
            </a:extLst>
          </p:cNvPr>
          <p:cNvSpPr txBox="1"/>
          <p:nvPr/>
        </p:nvSpPr>
        <p:spPr>
          <a:xfrm>
            <a:off x="5063628" y="1883914"/>
            <a:ext cx="3186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Exponential Regression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965BB5-C7CB-374C-BA8D-E8C51CD121EC}"/>
              </a:ext>
            </a:extLst>
          </p:cNvPr>
          <p:cNvSpPr/>
          <p:nvPr/>
        </p:nvSpPr>
        <p:spPr>
          <a:xfrm>
            <a:off x="2295120" y="6264422"/>
            <a:ext cx="7286483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900" dirty="0">
                <a:solidFill>
                  <a:schemeClr val="bg1"/>
                </a:solidFill>
              </a:rPr>
              <a:t>What can we conclude from this fitted model?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9594941-35C7-7944-BB7E-600750182172}"/>
              </a:ext>
            </a:extLst>
          </p:cNvPr>
          <p:cNvSpPr txBox="1">
            <a:spLocks/>
          </p:cNvSpPr>
          <p:nvPr/>
        </p:nvSpPr>
        <p:spPr>
          <a:xfrm>
            <a:off x="171800" y="1801886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6. Adapt your model and re-evaluate: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C69E27-6628-8B40-B076-3786BD6E1EB4}"/>
              </a:ext>
            </a:extLst>
          </p:cNvPr>
          <p:cNvSpPr txBox="1"/>
          <p:nvPr/>
        </p:nvSpPr>
        <p:spPr>
          <a:xfrm>
            <a:off x="266000" y="3158918"/>
            <a:ext cx="3186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Exponential Regression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330E47-C50D-8A0E-FDD0-7BC1F2C6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AB32AC-C7FA-80DD-0D8D-34699FA2285C}"/>
              </a:ext>
            </a:extLst>
          </p:cNvPr>
          <p:cNvSpPr txBox="1">
            <a:spLocks/>
          </p:cNvSpPr>
          <p:nvPr/>
        </p:nvSpPr>
        <p:spPr>
          <a:xfrm>
            <a:off x="266007" y="365125"/>
            <a:ext cx="10158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1. Example Question: </a:t>
            </a:r>
            <a:r>
              <a:rPr lang="en-US" b="1">
                <a:solidFill>
                  <a:srgbClr val="00B050"/>
                </a:solidFill>
              </a:rPr>
              <a:t>What</a:t>
            </a:r>
            <a:r>
              <a:rPr lang="en-US">
                <a:solidFill>
                  <a:schemeClr val="bg1"/>
                </a:solidFill>
              </a:rPr>
              <a:t> is the trajectory of Malagasy population size through time?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51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-15688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Statistical models and tests are based on specific assumptions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normally distributed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 and y independent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5457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-15688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Statistical models and tests are based on specific assumptions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normally distributed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 and y independent</a:t>
            </a:r>
          </a:p>
          <a:p>
            <a:r>
              <a:rPr lang="en-US" dirty="0">
                <a:solidFill>
                  <a:schemeClr val="bg1"/>
                </a:solidFill>
              </a:rPr>
              <a:t>Assessing a model means you need to make sure the assumptions are not violated. 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0090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-15688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Statistical models and tests are based on specific assumptions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normally distributed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 and y independent</a:t>
            </a:r>
          </a:p>
          <a:p>
            <a:r>
              <a:rPr lang="en-US" dirty="0">
                <a:solidFill>
                  <a:schemeClr val="bg1"/>
                </a:solidFill>
              </a:rPr>
              <a:t>Assessing a model means you need to make sure the assumptions are not violated. </a:t>
            </a:r>
          </a:p>
          <a:p>
            <a:r>
              <a:rPr lang="en-US" dirty="0">
                <a:solidFill>
                  <a:schemeClr val="bg1"/>
                </a:solidFill>
              </a:rPr>
              <a:t>There are so many statistical models</a:t>
            </a:r>
            <a:r>
              <a:rPr lang="mr-IN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63BBB-3170-8145-B0A6-D4A568F8D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236" y="4001294"/>
            <a:ext cx="4437529" cy="236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937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972" y="25875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vs. Mathematical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227" y="1527486"/>
            <a:ext cx="7886700" cy="406587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The choice depends on the research question!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85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330CA-D8A8-0B49-B121-33EB6C1978CF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</a:t>
            </a:r>
            <a:r>
              <a:rPr lang="en-US" sz="3200" b="1" dirty="0">
                <a:solidFill>
                  <a:schemeClr val="accent2"/>
                </a:solidFill>
              </a:rPr>
              <a:t>demonstrate the processes </a:t>
            </a:r>
            <a:r>
              <a:rPr lang="en-US" sz="3200" dirty="0">
                <a:solidFill>
                  <a:schemeClr val="bg1"/>
                </a:solidFill>
              </a:rPr>
              <a:t>that underlie a relationship between x and y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971550" lvl="1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6941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330CA-D8A8-0B49-B121-33EB6C1978CF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</a:t>
            </a:r>
            <a:r>
              <a:rPr lang="en-US" sz="3200" b="1" dirty="0">
                <a:solidFill>
                  <a:schemeClr val="accent2"/>
                </a:solidFill>
              </a:rPr>
              <a:t>demonstrate the processes </a:t>
            </a:r>
            <a:r>
              <a:rPr lang="en-US" sz="3200" dirty="0">
                <a:solidFill>
                  <a:schemeClr val="bg1"/>
                </a:solidFill>
              </a:rPr>
              <a:t>that underlie a relationship between x and 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strength.</a:t>
            </a:r>
          </a:p>
        </p:txBody>
      </p:sp>
    </p:spTree>
    <p:extLst>
      <p:ext uri="{BB962C8B-B14F-4D97-AF65-F5344CB8AC3E}">
        <p14:creationId xmlns:p14="http://schemas.microsoft.com/office/powerpoint/2010/main" val="2061713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330CA-D8A8-0B49-B121-33EB6C1978CF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</a:t>
            </a:r>
            <a:r>
              <a:rPr lang="en-US" sz="3200" b="1" dirty="0">
                <a:solidFill>
                  <a:schemeClr val="accent2"/>
                </a:solidFill>
              </a:rPr>
              <a:t>demonstrate the processes </a:t>
            </a:r>
            <a:r>
              <a:rPr lang="en-US" sz="3200" dirty="0">
                <a:solidFill>
                  <a:schemeClr val="bg1"/>
                </a:solidFill>
              </a:rPr>
              <a:t>that underlie a relationship between x and 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Mechanistic models can demonstrate causation.</a:t>
            </a:r>
          </a:p>
          <a:p>
            <a:pPr marL="971550" lvl="1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888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330CA-D8A8-0B49-B121-33EB6C1978CF}"/>
              </a:ext>
            </a:extLst>
          </p:cNvPr>
          <p:cNvSpPr txBox="1">
            <a:spLocks/>
          </p:cNvSpPr>
          <p:nvPr/>
        </p:nvSpPr>
        <p:spPr>
          <a:xfrm>
            <a:off x="504092" y="921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Goal: To </a:t>
            </a:r>
            <a:r>
              <a:rPr lang="en-US" sz="3200" b="1" dirty="0">
                <a:solidFill>
                  <a:schemeClr val="accent2"/>
                </a:solidFill>
              </a:rPr>
              <a:t>demonstrate the processes </a:t>
            </a:r>
            <a:r>
              <a:rPr lang="en-US" sz="3200" dirty="0">
                <a:solidFill>
                  <a:schemeClr val="bg1"/>
                </a:solidFill>
              </a:rPr>
              <a:t>that underlie a relationship between x and 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Find a significant relationship using a p-value as a measure of relationship strength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Mechanistic models can demonstrate causation.</a:t>
            </a:r>
          </a:p>
          <a:p>
            <a:r>
              <a:rPr lang="en-US" sz="3200" dirty="0">
                <a:solidFill>
                  <a:schemeClr val="bg1"/>
                </a:solidFill>
              </a:rPr>
              <a:t>Steps: 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Formulate a research question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Formulate a hypothesis 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Develop a model to demonstrate your hypothesis.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Collect </a:t>
            </a:r>
            <a:r>
              <a:rPr lang="en-US" sz="2800" b="1" dirty="0">
                <a:solidFill>
                  <a:srgbClr val="FF40FF"/>
                </a:solidFill>
              </a:rPr>
              <a:t>data</a:t>
            </a:r>
            <a:r>
              <a:rPr lang="en-US" sz="2800" dirty="0">
                <a:solidFill>
                  <a:schemeClr val="bg1"/>
                </a:solidFill>
              </a:rPr>
              <a:t> (for certain questions)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Evaluate the extent to which your model-simulated data matches that from the real world.</a:t>
            </a:r>
          </a:p>
          <a:p>
            <a:pPr marL="971550" lvl="1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5501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EC7F53-87E0-F348-A971-FF989655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99" y="2067282"/>
            <a:ext cx="5397500" cy="431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2EF5591-2B30-EA44-ABC1-73491C5A8015}"/>
              </a:ext>
            </a:extLst>
          </p:cNvPr>
          <p:cNvSpPr txBox="1">
            <a:spLocks/>
          </p:cNvSpPr>
          <p:nvPr/>
        </p:nvSpPr>
        <p:spPr>
          <a:xfrm>
            <a:off x="126277" y="189079"/>
            <a:ext cx="10086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How</a:t>
            </a:r>
            <a:r>
              <a:rPr lang="en-US" dirty="0">
                <a:solidFill>
                  <a:schemeClr val="bg1"/>
                </a:solidFill>
              </a:rPr>
              <a:t> does Malagasy population size change with time?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FFADC5-E57C-974B-8B8A-9F7EB054599A}"/>
              </a:ext>
            </a:extLst>
          </p:cNvPr>
          <p:cNvSpPr txBox="1">
            <a:spLocks/>
          </p:cNvSpPr>
          <p:nvPr/>
        </p:nvSpPr>
        <p:spPr>
          <a:xfrm>
            <a:off x="126277" y="1686282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because people are having children. 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Can you think of an alternative hypothesis?</a:t>
            </a: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385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FFADC5-E57C-974B-8B8A-9F7EB054599A}"/>
              </a:ext>
            </a:extLst>
          </p:cNvPr>
          <p:cNvSpPr txBox="1">
            <a:spLocks/>
          </p:cNvSpPr>
          <p:nvPr/>
        </p:nvSpPr>
        <p:spPr>
          <a:xfrm>
            <a:off x="126277" y="1686282"/>
            <a:ext cx="3679878" cy="25768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because people are having children.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Mechanistic Model: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648EA-64F9-F341-A49D-7FFDEBEF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99" y="2067282"/>
            <a:ext cx="5397500" cy="431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45F9AD-7557-504B-9EE4-9D9569DC5B0F}"/>
              </a:ext>
            </a:extLst>
          </p:cNvPr>
          <p:cNvSpPr/>
          <p:nvPr/>
        </p:nvSpPr>
        <p:spPr>
          <a:xfrm>
            <a:off x="1586402" y="4389824"/>
            <a:ext cx="1342912" cy="12001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Population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64BEB4-E517-0D41-8886-1F4F86C3BCEB}"/>
              </a:ext>
            </a:extLst>
          </p:cNvPr>
          <p:cNvCxnSpPr>
            <a:cxnSpLocks/>
          </p:cNvCxnSpPr>
          <p:nvPr/>
        </p:nvCxnSpPr>
        <p:spPr>
          <a:xfrm>
            <a:off x="467908" y="5030461"/>
            <a:ext cx="9950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D5A157-9911-134E-8430-160B9A5972A7}"/>
              </a:ext>
            </a:extLst>
          </p:cNvPr>
          <p:cNvCxnSpPr/>
          <p:nvPr/>
        </p:nvCxnSpPr>
        <p:spPr>
          <a:xfrm>
            <a:off x="3127922" y="5050715"/>
            <a:ext cx="10488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8D96B7-3E10-994F-9DF5-38163A56D796}"/>
              </a:ext>
            </a:extLst>
          </p:cNvPr>
          <p:cNvSpPr txBox="1"/>
          <p:nvPr/>
        </p:nvSpPr>
        <p:spPr>
          <a:xfrm>
            <a:off x="738430" y="4534451"/>
            <a:ext cx="6383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birth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59BD5-B9B8-CC44-AAA6-2644145FD250}"/>
              </a:ext>
            </a:extLst>
          </p:cNvPr>
          <p:cNvSpPr txBox="1"/>
          <p:nvPr/>
        </p:nvSpPr>
        <p:spPr>
          <a:xfrm>
            <a:off x="3248946" y="4677973"/>
            <a:ext cx="7292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BEC52D-717D-5441-9620-8AEB123B174F}"/>
                  </a:ext>
                </a:extLst>
              </p:cNvPr>
              <p:cNvSpPr txBox="1"/>
              <p:nvPr/>
            </p:nvSpPr>
            <p:spPr>
              <a:xfrm>
                <a:off x="-383771" y="5987201"/>
                <a:ext cx="369352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  −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𝑑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  <a:p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BEC52D-717D-5441-9620-8AEB123B1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3771" y="5987201"/>
                <a:ext cx="3693523" cy="553998"/>
              </a:xfrm>
              <a:prstGeom prst="rect">
                <a:avLst/>
              </a:prstGeom>
              <a:blipFill>
                <a:blip r:embed="rId4"/>
                <a:stretch>
                  <a:fillRect t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939CE6-798C-3F48-A168-892D432D8557}"/>
                  </a:ext>
                </a:extLst>
              </p:cNvPr>
              <p:cNvSpPr txBox="1"/>
              <p:nvPr/>
            </p:nvSpPr>
            <p:spPr>
              <a:xfrm>
                <a:off x="-764209" y="6390878"/>
                <a:ext cx="36935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939CE6-798C-3F48-A168-892D432D8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4209" y="6390878"/>
                <a:ext cx="3693523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BEB5BED-B7B9-DEB7-2422-7F9B990EAE1B}"/>
              </a:ext>
            </a:extLst>
          </p:cNvPr>
          <p:cNvSpPr txBox="1">
            <a:spLocks/>
          </p:cNvSpPr>
          <p:nvPr/>
        </p:nvSpPr>
        <p:spPr>
          <a:xfrm>
            <a:off x="126277" y="189079"/>
            <a:ext cx="10086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How</a:t>
            </a:r>
            <a:r>
              <a:rPr lang="en-US" dirty="0">
                <a:solidFill>
                  <a:schemeClr val="bg1"/>
                </a:solidFill>
              </a:rPr>
              <a:t> does Malagasy population size change with time?</a:t>
            </a:r>
          </a:p>
        </p:txBody>
      </p:sp>
    </p:spTree>
    <p:extLst>
      <p:ext uri="{BB962C8B-B14F-4D97-AF65-F5344CB8AC3E}">
        <p14:creationId xmlns:p14="http://schemas.microsoft.com/office/powerpoint/2010/main" val="42272260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07797-084D-D247-8C20-334C443957B0}"/>
              </a:ext>
            </a:extLst>
          </p:cNvPr>
          <p:cNvSpPr txBox="1"/>
          <p:nvPr/>
        </p:nvSpPr>
        <p:spPr>
          <a:xfrm>
            <a:off x="10076134" y="6349061"/>
            <a:ext cx="20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World Bank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FFADC5-E57C-974B-8B8A-9F7EB054599A}"/>
              </a:ext>
            </a:extLst>
          </p:cNvPr>
          <p:cNvSpPr txBox="1">
            <a:spLocks/>
          </p:cNvSpPr>
          <p:nvPr/>
        </p:nvSpPr>
        <p:spPr>
          <a:xfrm>
            <a:off x="126277" y="1686282"/>
            <a:ext cx="3679878" cy="25768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because people are having children.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Mechanistic Model: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648EA-64F9-F341-A49D-7FFDEBEF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99" y="2067282"/>
            <a:ext cx="5397500" cy="4318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BBFD008-80F3-754C-840B-1CF39E25C63C}"/>
              </a:ext>
            </a:extLst>
          </p:cNvPr>
          <p:cNvSpPr txBox="1">
            <a:spLocks/>
          </p:cNvSpPr>
          <p:nvPr/>
        </p:nvSpPr>
        <p:spPr>
          <a:xfrm>
            <a:off x="4489730" y="1631257"/>
            <a:ext cx="3266134" cy="2210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 Data: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45F9AD-7557-504B-9EE4-9D9569DC5B0F}"/>
              </a:ext>
            </a:extLst>
          </p:cNvPr>
          <p:cNvSpPr/>
          <p:nvPr/>
        </p:nvSpPr>
        <p:spPr>
          <a:xfrm>
            <a:off x="1586402" y="4389824"/>
            <a:ext cx="1342912" cy="12001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Population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64BEB4-E517-0D41-8886-1F4F86C3BCEB}"/>
              </a:ext>
            </a:extLst>
          </p:cNvPr>
          <p:cNvCxnSpPr>
            <a:cxnSpLocks/>
          </p:cNvCxnSpPr>
          <p:nvPr/>
        </p:nvCxnSpPr>
        <p:spPr>
          <a:xfrm>
            <a:off x="467908" y="5030461"/>
            <a:ext cx="9950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D5A157-9911-134E-8430-160B9A5972A7}"/>
              </a:ext>
            </a:extLst>
          </p:cNvPr>
          <p:cNvCxnSpPr/>
          <p:nvPr/>
        </p:nvCxnSpPr>
        <p:spPr>
          <a:xfrm>
            <a:off x="3127922" y="5050715"/>
            <a:ext cx="10488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8D96B7-3E10-994F-9DF5-38163A56D796}"/>
              </a:ext>
            </a:extLst>
          </p:cNvPr>
          <p:cNvSpPr txBox="1"/>
          <p:nvPr/>
        </p:nvSpPr>
        <p:spPr>
          <a:xfrm>
            <a:off x="738430" y="4534451"/>
            <a:ext cx="6383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birth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59BD5-B9B8-CC44-AAA6-2644145FD250}"/>
              </a:ext>
            </a:extLst>
          </p:cNvPr>
          <p:cNvSpPr txBox="1"/>
          <p:nvPr/>
        </p:nvSpPr>
        <p:spPr>
          <a:xfrm>
            <a:off x="3248946" y="4677973"/>
            <a:ext cx="7292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BEC52D-717D-5441-9620-8AEB123B174F}"/>
                  </a:ext>
                </a:extLst>
              </p:cNvPr>
              <p:cNvSpPr txBox="1"/>
              <p:nvPr/>
            </p:nvSpPr>
            <p:spPr>
              <a:xfrm>
                <a:off x="-383771" y="5987201"/>
                <a:ext cx="369352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  −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𝑑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  <a:p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BEC52D-717D-5441-9620-8AEB123B1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3771" y="5987201"/>
                <a:ext cx="3693523" cy="553998"/>
              </a:xfrm>
              <a:prstGeom prst="rect">
                <a:avLst/>
              </a:prstGeom>
              <a:blipFill>
                <a:blip r:embed="rId4"/>
                <a:stretch>
                  <a:fillRect t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939CE6-798C-3F48-A168-892D432D8557}"/>
                  </a:ext>
                </a:extLst>
              </p:cNvPr>
              <p:cNvSpPr txBox="1"/>
              <p:nvPr/>
            </p:nvSpPr>
            <p:spPr>
              <a:xfrm>
                <a:off x="-764209" y="6390878"/>
                <a:ext cx="36935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939CE6-798C-3F48-A168-892D432D8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4209" y="6390878"/>
                <a:ext cx="3693523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BEB5BED-B7B9-DEB7-2422-7F9B990EAE1B}"/>
              </a:ext>
            </a:extLst>
          </p:cNvPr>
          <p:cNvSpPr txBox="1">
            <a:spLocks/>
          </p:cNvSpPr>
          <p:nvPr/>
        </p:nvSpPr>
        <p:spPr>
          <a:xfrm>
            <a:off x="126277" y="189079"/>
            <a:ext cx="10086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How</a:t>
            </a:r>
            <a:r>
              <a:rPr lang="en-US" dirty="0">
                <a:solidFill>
                  <a:schemeClr val="bg1"/>
                </a:solidFill>
              </a:rPr>
              <a:t> does Malagasy population size change with time?</a:t>
            </a:r>
          </a:p>
        </p:txBody>
      </p:sp>
    </p:spTree>
    <p:extLst>
      <p:ext uri="{BB962C8B-B14F-4D97-AF65-F5344CB8AC3E}">
        <p14:creationId xmlns:p14="http://schemas.microsoft.com/office/powerpoint/2010/main" val="18834395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1133-BEA4-F44D-A5A2-023CE7FB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BBFD008-80F3-754C-840B-1CF39E25C63C}"/>
              </a:ext>
            </a:extLst>
          </p:cNvPr>
          <p:cNvSpPr txBox="1">
            <a:spLocks/>
          </p:cNvSpPr>
          <p:nvPr/>
        </p:nvSpPr>
        <p:spPr>
          <a:xfrm>
            <a:off x="4489730" y="1631257"/>
            <a:ext cx="3266134" cy="2210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 Data: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45F9AD-7557-504B-9EE4-9D9569DC5B0F}"/>
              </a:ext>
            </a:extLst>
          </p:cNvPr>
          <p:cNvSpPr/>
          <p:nvPr/>
        </p:nvSpPr>
        <p:spPr>
          <a:xfrm>
            <a:off x="1586402" y="4389824"/>
            <a:ext cx="1342912" cy="12001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Population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64BEB4-E517-0D41-8886-1F4F86C3BCEB}"/>
              </a:ext>
            </a:extLst>
          </p:cNvPr>
          <p:cNvCxnSpPr>
            <a:cxnSpLocks/>
          </p:cNvCxnSpPr>
          <p:nvPr/>
        </p:nvCxnSpPr>
        <p:spPr>
          <a:xfrm>
            <a:off x="467908" y="5030461"/>
            <a:ext cx="9950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D5A157-9911-134E-8430-160B9A5972A7}"/>
              </a:ext>
            </a:extLst>
          </p:cNvPr>
          <p:cNvCxnSpPr/>
          <p:nvPr/>
        </p:nvCxnSpPr>
        <p:spPr>
          <a:xfrm>
            <a:off x="3127922" y="5050715"/>
            <a:ext cx="10488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8D96B7-3E10-994F-9DF5-38163A56D796}"/>
              </a:ext>
            </a:extLst>
          </p:cNvPr>
          <p:cNvSpPr txBox="1"/>
          <p:nvPr/>
        </p:nvSpPr>
        <p:spPr>
          <a:xfrm>
            <a:off x="738430" y="4534451"/>
            <a:ext cx="6383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birth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59BD5-B9B8-CC44-AAA6-2644145FD250}"/>
              </a:ext>
            </a:extLst>
          </p:cNvPr>
          <p:cNvSpPr txBox="1"/>
          <p:nvPr/>
        </p:nvSpPr>
        <p:spPr>
          <a:xfrm>
            <a:off x="3248946" y="4677973"/>
            <a:ext cx="7292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death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B5BED-B7B9-DEB7-2422-7F9B990EAE1B}"/>
              </a:ext>
            </a:extLst>
          </p:cNvPr>
          <p:cNvSpPr txBox="1">
            <a:spLocks/>
          </p:cNvSpPr>
          <p:nvPr/>
        </p:nvSpPr>
        <p:spPr>
          <a:xfrm>
            <a:off x="126277" y="189079"/>
            <a:ext cx="10086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 Example Question: </a:t>
            </a:r>
            <a:r>
              <a:rPr lang="en-US" b="1" dirty="0">
                <a:solidFill>
                  <a:srgbClr val="00B050"/>
                </a:solidFill>
              </a:rPr>
              <a:t>How</a:t>
            </a:r>
            <a:r>
              <a:rPr lang="en-US" dirty="0">
                <a:solidFill>
                  <a:schemeClr val="bg1"/>
                </a:solidFill>
              </a:rPr>
              <a:t> does Malagasy population size change with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371F-0FE9-A586-08D9-A6C966EC5BFC}"/>
              </a:ext>
            </a:extLst>
          </p:cNvPr>
          <p:cNvSpPr txBox="1">
            <a:spLocks/>
          </p:cNvSpPr>
          <p:nvPr/>
        </p:nvSpPr>
        <p:spPr>
          <a:xfrm>
            <a:off x="126277" y="1686282"/>
            <a:ext cx="367987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Hypothesis: Malagasy population size increases because people are having children.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Mechanistic Model: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5. Evaluation: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7F1FE7-4D59-8F3A-54AC-DEEAE1B13750}"/>
                  </a:ext>
                </a:extLst>
              </p:cNvPr>
              <p:cNvSpPr/>
              <p:nvPr/>
            </p:nvSpPr>
            <p:spPr>
              <a:xfrm>
                <a:off x="428361" y="6261767"/>
                <a:ext cx="3549824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9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.3</m:t>
                    </m:r>
                  </m:oMath>
                </a14:m>
                <a:r>
                  <a:rPr lang="en-US" sz="2900" dirty="0">
                    <a:solidFill>
                      <a:schemeClr val="bg1"/>
                    </a:solidFill>
                  </a:rPr>
                  <a:t>49/person/</a:t>
                </a:r>
                <a:r>
                  <a:rPr lang="en-US" sz="2900" dirty="0" err="1">
                    <a:solidFill>
                      <a:schemeClr val="bg1"/>
                    </a:solidFill>
                  </a:rPr>
                  <a:t>yr</a:t>
                </a:r>
                <a:endParaRPr lang="en-US" sz="2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7F1FE7-4D59-8F3A-54AC-DEEAE1B13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61" y="6261767"/>
                <a:ext cx="3549824" cy="538609"/>
              </a:xfrm>
              <a:prstGeom prst="rect">
                <a:avLst/>
              </a:prstGeom>
              <a:blipFill>
                <a:blip r:embed="rId3"/>
                <a:stretch>
                  <a:fillRect t="-11364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61B14B7-0BE7-26B3-4E12-C85C8E0CE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077" y="2031061"/>
            <a:ext cx="5397500" cy="431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7573E8-001C-C602-74D5-FC4F273E7E20}"/>
              </a:ext>
            </a:extLst>
          </p:cNvPr>
          <p:cNvSpPr/>
          <p:nvPr/>
        </p:nvSpPr>
        <p:spPr>
          <a:xfrm>
            <a:off x="4489730" y="6313297"/>
            <a:ext cx="7286483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900" i="1" dirty="0">
                <a:solidFill>
                  <a:srgbClr val="FF0000"/>
                </a:solidFill>
              </a:rPr>
              <a:t>What can we conclude from this fitted model?</a:t>
            </a:r>
          </a:p>
        </p:txBody>
      </p:sp>
    </p:spTree>
    <p:extLst>
      <p:ext uri="{BB962C8B-B14F-4D97-AF65-F5344CB8AC3E}">
        <p14:creationId xmlns:p14="http://schemas.microsoft.com/office/powerpoint/2010/main" val="14161737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174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34300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Parameters used in the mechanistic models sometimes are not measurable!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5317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174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34300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Parameters used in the mechanistic models sometimes are not measurable!</a:t>
            </a:r>
          </a:p>
          <a:p>
            <a:r>
              <a:rPr lang="en-US" sz="3600" dirty="0">
                <a:solidFill>
                  <a:schemeClr val="bg1"/>
                </a:solidFill>
              </a:rPr>
              <a:t>Simulations can be computationally intensive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152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174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34300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Parameters used in the mechanistic models sometimes are not measurable!</a:t>
            </a:r>
          </a:p>
          <a:p>
            <a:r>
              <a:rPr lang="en-US" sz="3600" dirty="0">
                <a:solidFill>
                  <a:schemeClr val="bg1"/>
                </a:solidFill>
              </a:rPr>
              <a:t>Simulations can be computationally intensive</a:t>
            </a:r>
          </a:p>
          <a:p>
            <a:r>
              <a:rPr lang="en-US" sz="3600" dirty="0">
                <a:solidFill>
                  <a:schemeClr val="bg1"/>
                </a:solidFill>
              </a:rPr>
              <a:t>Advances in computational power often inspire development of more complex models which are not necessarily better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8561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174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34300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Parameters used in the mechanistic models sometimes are not measurable!</a:t>
            </a:r>
          </a:p>
          <a:p>
            <a:r>
              <a:rPr lang="en-US" sz="3600" dirty="0">
                <a:solidFill>
                  <a:schemeClr val="bg1"/>
                </a:solidFill>
              </a:rPr>
              <a:t>Simulations can be computationally intensive</a:t>
            </a:r>
          </a:p>
          <a:p>
            <a:r>
              <a:rPr lang="en-US" sz="3600" dirty="0">
                <a:solidFill>
                  <a:schemeClr val="bg1"/>
                </a:solidFill>
              </a:rPr>
              <a:t>Advances in computational power often inspire development of more complex models which are not necessarily better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35E1E5-E8BB-2141-8639-5DD36179DD81}"/>
              </a:ext>
            </a:extLst>
          </p:cNvPr>
          <p:cNvSpPr txBox="1">
            <a:spLocks/>
          </p:cNvSpPr>
          <p:nvPr/>
        </p:nvSpPr>
        <p:spPr>
          <a:xfrm>
            <a:off x="504092" y="498536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i="1" dirty="0">
                <a:solidFill>
                  <a:schemeClr val="bg1"/>
                </a:solidFill>
              </a:rPr>
              <a:t>“All models are wrong but some are useful…”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-George Box</a:t>
            </a:r>
          </a:p>
          <a:p>
            <a:pPr marL="0" indent="0" algn="ctr">
              <a:buNone/>
            </a:pPr>
            <a:br>
              <a:rPr lang="en-US" sz="3600" i="1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7449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174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Mechanistic Models: Beware!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25EDE-70CB-194D-B2EB-54425C5D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B584BA-480C-A645-B9B9-0F91A74FD0E1}"/>
              </a:ext>
            </a:extLst>
          </p:cNvPr>
          <p:cNvSpPr txBox="1">
            <a:spLocks/>
          </p:cNvSpPr>
          <p:nvPr/>
        </p:nvSpPr>
        <p:spPr>
          <a:xfrm>
            <a:off x="504092" y="134300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Parameters used in the mechanistic models sometimes are not measurable!</a:t>
            </a:r>
          </a:p>
          <a:p>
            <a:r>
              <a:rPr lang="en-US" sz="3600" dirty="0">
                <a:solidFill>
                  <a:schemeClr val="bg1"/>
                </a:solidFill>
              </a:rPr>
              <a:t>Simulations can be computationally intensive</a:t>
            </a:r>
          </a:p>
          <a:p>
            <a:r>
              <a:rPr lang="en-US" sz="3600" dirty="0">
                <a:solidFill>
                  <a:schemeClr val="bg1"/>
                </a:solidFill>
              </a:rPr>
              <a:t>Advances in computational power often inspire development of more complex models which are not necessarily better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1428750" lvl="2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35E1E5-E8BB-2141-8639-5DD36179DD81}"/>
              </a:ext>
            </a:extLst>
          </p:cNvPr>
          <p:cNvSpPr txBox="1">
            <a:spLocks/>
          </p:cNvSpPr>
          <p:nvPr/>
        </p:nvSpPr>
        <p:spPr>
          <a:xfrm>
            <a:off x="504092" y="4985362"/>
            <a:ext cx="100267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i="1" dirty="0">
                <a:solidFill>
                  <a:schemeClr val="bg1"/>
                </a:solidFill>
              </a:rPr>
              <a:t>“All models are wrong but some are useful…”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-George Box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We use models to both 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predict</a:t>
            </a:r>
            <a:r>
              <a:rPr lang="en-US" sz="3600" dirty="0">
                <a:solidFill>
                  <a:schemeClr val="bg1"/>
                </a:solidFill>
              </a:rPr>
              <a:t> and 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explain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  <a:br>
              <a:rPr lang="en-US" sz="3600" i="1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0093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C869-E3B7-B546-9F0E-0C9B0013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7494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 is ideal when statistical and mechanistic models meet: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60135C-829E-EB47-B9FE-EE55158FE595}"/>
              </a:ext>
            </a:extLst>
          </p:cNvPr>
          <p:cNvSpPr/>
          <p:nvPr/>
        </p:nvSpPr>
        <p:spPr>
          <a:xfrm>
            <a:off x="2276139" y="3416449"/>
            <a:ext cx="2245659" cy="138504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418E7F-48AD-CF46-B09F-DAA18ED0F9A6}"/>
              </a:ext>
            </a:extLst>
          </p:cNvPr>
          <p:cNvSpPr/>
          <p:nvPr/>
        </p:nvSpPr>
        <p:spPr>
          <a:xfrm>
            <a:off x="6879516" y="3416449"/>
            <a:ext cx="2245659" cy="138504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Pattern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U-Turn Arrow 9">
            <a:extLst>
              <a:ext uri="{FF2B5EF4-FFF2-40B4-BE49-F238E27FC236}">
                <a16:creationId xmlns:a16="http://schemas.microsoft.com/office/drawing/2014/main" id="{7B717E97-1D95-C14C-B352-0F7C95BF8534}"/>
              </a:ext>
            </a:extLst>
          </p:cNvPr>
          <p:cNvSpPr/>
          <p:nvPr/>
        </p:nvSpPr>
        <p:spPr>
          <a:xfrm>
            <a:off x="3358627" y="2757543"/>
            <a:ext cx="4793877" cy="658906"/>
          </a:xfrm>
          <a:prstGeom prst="uturnArrow">
            <a:avLst>
              <a:gd name="adj1" fmla="val 16837"/>
              <a:gd name="adj2" fmla="val 25000"/>
              <a:gd name="adj3" fmla="val 33163"/>
              <a:gd name="adj4" fmla="val 41709"/>
              <a:gd name="adj5" fmla="val 100000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241C8-E8EE-7646-82E9-B7847C58029D}"/>
              </a:ext>
            </a:extLst>
          </p:cNvPr>
          <p:cNvSpPr txBox="1"/>
          <p:nvPr/>
        </p:nvSpPr>
        <p:spPr>
          <a:xfrm>
            <a:off x="4683163" y="2401658"/>
            <a:ext cx="199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Mechanistic model</a:t>
            </a: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9B82A418-1590-D848-99D3-8BEA2E6D79DE}"/>
              </a:ext>
            </a:extLst>
          </p:cNvPr>
          <p:cNvSpPr/>
          <p:nvPr/>
        </p:nvSpPr>
        <p:spPr>
          <a:xfrm flipH="1" flipV="1">
            <a:off x="3269346" y="4801496"/>
            <a:ext cx="4793877" cy="658906"/>
          </a:xfrm>
          <a:prstGeom prst="uturnArrow">
            <a:avLst>
              <a:gd name="adj1" fmla="val 16837"/>
              <a:gd name="adj2" fmla="val 25000"/>
              <a:gd name="adj3" fmla="val 33163"/>
              <a:gd name="adj4" fmla="val 41709"/>
              <a:gd name="adj5" fmla="val 100000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3A77B-E765-DA43-B6E3-34EE14D75491}"/>
              </a:ext>
            </a:extLst>
          </p:cNvPr>
          <p:cNvSpPr txBox="1"/>
          <p:nvPr/>
        </p:nvSpPr>
        <p:spPr>
          <a:xfrm>
            <a:off x="4683163" y="5460402"/>
            <a:ext cx="176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Statistical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34E8C6-0866-1F4C-A2B7-9CCE15E5F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44" y="17439"/>
            <a:ext cx="1978856" cy="18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734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30611D-D97A-974D-8E34-31BD0272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70" y="167006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Tool for E</a:t>
            </a:r>
            <a:r>
              <a:rPr lang="en-US" baseline="30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en-US" baseline="30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9621FE-E371-5E4E-BA8B-7F528F40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5880"/>
            <a:ext cx="8835390" cy="5326325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 power keeps increasing</a:t>
            </a:r>
          </a:p>
          <a:p>
            <a:r>
              <a:rPr lang="en-US" dirty="0">
                <a:solidFill>
                  <a:schemeClr val="bg1"/>
                </a:solidFill>
              </a:rPr>
              <a:t>Language/software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Fortran, C, C++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Julia, Java, Python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Matlab</a:t>
            </a:r>
            <a:r>
              <a:rPr lang="en-US" dirty="0">
                <a:solidFill>
                  <a:schemeClr val="bg1"/>
                </a:solidFill>
              </a:rPr>
              <a:t>, Maple, Mathematica,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SAS, SPSS, Stata</a:t>
            </a:r>
          </a:p>
          <a:p>
            <a:r>
              <a:rPr lang="en-US" dirty="0">
                <a:solidFill>
                  <a:schemeClr val="bg1"/>
                </a:solidFill>
              </a:rPr>
              <a:t>Specific programs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Vortex, RAMAS, </a:t>
            </a:r>
            <a:r>
              <a:rPr lang="en-US" dirty="0" err="1">
                <a:solidFill>
                  <a:schemeClr val="bg1"/>
                </a:solidFill>
              </a:rPr>
              <a:t>NetLogo</a:t>
            </a:r>
            <a:r>
              <a:rPr lang="en-US" dirty="0">
                <a:solidFill>
                  <a:schemeClr val="bg1"/>
                </a:solidFill>
              </a:rPr>
              <a:t> for IBM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NicheMapper</a:t>
            </a:r>
            <a:r>
              <a:rPr lang="en-US" dirty="0">
                <a:solidFill>
                  <a:schemeClr val="bg1"/>
                </a:solidFill>
              </a:rPr>
              <a:t> for physiology, </a:t>
            </a:r>
            <a:r>
              <a:rPr lang="en-US" dirty="0" err="1">
                <a:solidFill>
                  <a:schemeClr val="bg1"/>
                </a:solidFill>
              </a:rPr>
              <a:t>iLand</a:t>
            </a:r>
            <a:r>
              <a:rPr lang="en-US" dirty="0">
                <a:solidFill>
                  <a:schemeClr val="bg1"/>
                </a:solidFill>
              </a:rPr>
              <a:t> for forest dynamics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MaxEnt</a:t>
            </a:r>
            <a:r>
              <a:rPr lang="en-US" dirty="0">
                <a:solidFill>
                  <a:schemeClr val="bg1"/>
                </a:solidFill>
              </a:rPr>
              <a:t> for species distribution modeling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Zonation for reserve selection </a:t>
            </a:r>
            <a:r>
              <a:rPr lang="en-US" dirty="0" err="1">
                <a:solidFill>
                  <a:schemeClr val="bg1"/>
                </a:solidFill>
              </a:rPr>
              <a:t>etc</a:t>
            </a:r>
            <a:r>
              <a:rPr lang="mr-IN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compromise: R---very powerful for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Visualization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formatting and sorting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Statistical analyses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Simulation (mechanistic model)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9F766-E4DF-324E-B946-20CAA7AD8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80" y="4342151"/>
            <a:ext cx="2684663" cy="2029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487836-A99F-1341-9C08-331F887F5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144" y="1530158"/>
            <a:ext cx="1978856" cy="1808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0BD280-846E-0E49-8FB6-9B56732C5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143" y="0"/>
            <a:ext cx="1978857" cy="179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676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6517F-2993-4A42-966D-956F1233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314E7B-1C9B-A941-B01F-ABE55D72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8099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D941F7-F361-8E4A-9765-CDE276CD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3"/>
            <a:ext cx="10515600" cy="52363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the “E” in E²M²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Ecology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Epidemiology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6394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4C7-91F3-3A45-84BF-37C9CC3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Goals for this lecture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D941F7-F361-8E4A-9765-CDE276CD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3"/>
            <a:ext cx="10515600" cy="52363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 explain what we’re doing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”science”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”data”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define “models”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 introduce many different types of models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Statistical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Mathematical</a:t>
            </a:r>
          </a:p>
          <a:p>
            <a:r>
              <a:rPr lang="en-US" sz="3200" dirty="0">
                <a:solidFill>
                  <a:srgbClr val="FF0000"/>
                </a:solidFill>
              </a:rPr>
              <a:t>To introduce the “E” in E²M²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Ecology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Epidemiology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3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9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Epidemiology?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838200" y="158575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“the study of </a:t>
            </a:r>
            <a:r>
              <a:rPr lang="en-US" b="1" dirty="0">
                <a:solidFill>
                  <a:srgbClr val="00B050"/>
                </a:solidFill>
              </a:rPr>
              <a:t>what</a:t>
            </a:r>
            <a:r>
              <a:rPr lang="en-US" dirty="0">
                <a:solidFill>
                  <a:schemeClr val="bg1"/>
                </a:solidFill>
              </a:rPr>
              <a:t> is on the people”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– coined in 1802 to describe diseases in the Spanish population</a:t>
            </a:r>
          </a:p>
          <a:p>
            <a:r>
              <a:rPr lang="en-US" dirty="0">
                <a:solidFill>
                  <a:schemeClr val="bg1"/>
                </a:solidFill>
              </a:rPr>
              <a:t>Emphasis on the study and analysis of the distribution and determinants of health and disease (“risk factors”)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6833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Epidemiology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585866" y="1663960"/>
            <a:ext cx="58998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Sickness caused by an imbalance in the four humors (Hippocrates)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DA95C-FF2A-EF40-B15F-31D20613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477" y="1255973"/>
            <a:ext cx="499078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852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Epidemiology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600856" y="1687487"/>
            <a:ext cx="64894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Sickness caused by an imbalance in the four humors (Hippocrates)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Miasmatic theory of disease  (1500s)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Sickness results from emanations of ‘bad air’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6C62F-49F9-3F48-A7FA-F96C2DF9E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842" y="492838"/>
            <a:ext cx="4325176" cy="324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436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Epidemiology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600856" y="1687487"/>
            <a:ext cx="64894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Sickness caused by an imbalance in the four humors (Hippocrates)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Miasmatic theory of disease  (1500s)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Sickness results from emanations of ‘bad air’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Germ theory of disease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Leeuwenhoek’s microscope (1675)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Koch’s postulates (1890)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CC0BB-6325-714A-B8C8-4349BC11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0"/>
            <a:ext cx="2578100" cy="210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917DA1-ADF5-3049-9705-88F01EB92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905" y="2108200"/>
            <a:ext cx="4116181" cy="404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050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Epidemiology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600856" y="1687487"/>
            <a:ext cx="64894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Sickness caused by an imbalance in the four humors (Hippocrates)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Miasmatic theory of disease  (1500s)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Sickness results from emanations of ‘bad air’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Germ theory of disease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Leeuwenhoek’s microscope (1675)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Koch’s postulates (1890)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Classical epidemiology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John Snow and London cholera (1854)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D51ED37C-3EBC-C147-A1C5-963D062E2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0591" r="-40591"/>
          <a:stretch>
            <a:fillRect/>
          </a:stretch>
        </p:blipFill>
        <p:spPr>
          <a:xfrm>
            <a:off x="6608787" y="591766"/>
            <a:ext cx="6585679" cy="3621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72869-02FE-2A40-967C-BA93B1047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556" y="4325351"/>
            <a:ext cx="1701577" cy="24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831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6A31-7128-8344-9BA5-71636319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Epidemiology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7D3B2-A0E0-8C4B-8D51-AB4D41CB7B67}"/>
              </a:ext>
            </a:extLst>
          </p:cNvPr>
          <p:cNvSpPr txBox="1">
            <a:spLocks/>
          </p:cNvSpPr>
          <p:nvPr/>
        </p:nvSpPr>
        <p:spPr>
          <a:xfrm>
            <a:off x="600856" y="1687487"/>
            <a:ext cx="64894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Sickness caused by an imbalance in the four humors (Hippocrates)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Miasmatic theory of disease  (1500s)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Sickness results from emanations of ‘bad air’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Germ theory of disease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Leeuwenhoek’s microscope (1675)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Koch’s postulates (1890)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Classical epidemiology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John Snow and London cholera (1854)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Mathematical epidemiology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Kermack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McKendrik</a:t>
            </a:r>
            <a:r>
              <a:rPr lang="en-US" dirty="0">
                <a:solidFill>
                  <a:schemeClr val="bg1"/>
                </a:solidFill>
              </a:rPr>
              <a:t> (1927)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C7B40A-C771-3B46-8094-4D1879047D7A}"/>
              </a:ext>
            </a:extLst>
          </p:cNvPr>
          <p:cNvGrpSpPr/>
          <p:nvPr/>
        </p:nvGrpSpPr>
        <p:grpSpPr>
          <a:xfrm>
            <a:off x="6538032" y="1257546"/>
            <a:ext cx="4853655" cy="2672740"/>
            <a:chOff x="2992352" y="2107642"/>
            <a:chExt cx="2925834" cy="1403908"/>
          </a:xfrm>
        </p:grpSpPr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7CBD287D-8DEC-9E48-AFDB-AC44534F75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4850" y="3346450"/>
            <a:ext cx="1143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300" imgH="165100" progId="Equation.3">
                    <p:embed/>
                  </p:oleObj>
                </mc:Choice>
                <mc:Fallback>
                  <p:oleObj name="Equation" r:id="rId2" imgW="114300" imgH="165100" progId="Equation.3">
                    <p:embed/>
                    <p:pic>
                      <p:nvPicPr>
                        <p:cNvPr id="5" name="Object 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514850" y="3346450"/>
                          <a:ext cx="1143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8A18416-7CBA-834F-8B16-D4A8AF4450A8}"/>
                </a:ext>
              </a:extLst>
            </p:cNvPr>
            <p:cNvGrpSpPr/>
            <p:nvPr/>
          </p:nvGrpSpPr>
          <p:grpSpPr>
            <a:xfrm>
              <a:off x="2992352" y="2107642"/>
              <a:ext cx="2925834" cy="1243242"/>
              <a:chOff x="3568063" y="1697691"/>
              <a:chExt cx="2925834" cy="124324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FCA8731-B70C-6041-94A0-841CADB60051}"/>
                  </a:ext>
                </a:extLst>
              </p:cNvPr>
              <p:cNvGrpSpPr/>
              <p:nvPr/>
            </p:nvGrpSpPr>
            <p:grpSpPr>
              <a:xfrm>
                <a:off x="3568063" y="2115754"/>
                <a:ext cx="2925834" cy="825179"/>
                <a:chOff x="3568063" y="2115754"/>
                <a:chExt cx="2925834" cy="825179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15FBD21-5363-FD4B-831F-A8F9976FC2F8}"/>
                    </a:ext>
                  </a:extLst>
                </p:cNvPr>
                <p:cNvSpPr/>
                <p:nvPr/>
              </p:nvSpPr>
              <p:spPr>
                <a:xfrm>
                  <a:off x="3568063" y="2287009"/>
                  <a:ext cx="648720" cy="636593"/>
                </a:xfrm>
                <a:prstGeom prst="rect">
                  <a:avLst/>
                </a:prstGeom>
                <a:solidFill>
                  <a:schemeClr val="accent6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S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989C813-3DA3-DD48-A9F6-EBC5E0FAEEE1}"/>
                    </a:ext>
                  </a:extLst>
                </p:cNvPr>
                <p:cNvSpPr/>
                <p:nvPr/>
              </p:nvSpPr>
              <p:spPr>
                <a:xfrm>
                  <a:off x="4786705" y="2277455"/>
                  <a:ext cx="633609" cy="661992"/>
                </a:xfrm>
                <a:prstGeom prst="rect">
                  <a:avLst/>
                </a:prstGeom>
                <a:solidFill>
                  <a:srgbClr val="FF000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E31DE85-EF35-D24C-9541-CB9B1466E533}"/>
                    </a:ext>
                  </a:extLst>
                </p:cNvPr>
                <p:cNvSpPr/>
                <p:nvPr/>
              </p:nvSpPr>
              <p:spPr>
                <a:xfrm>
                  <a:off x="5884720" y="2288495"/>
                  <a:ext cx="609177" cy="652438"/>
                </a:xfrm>
                <a:prstGeom prst="rect">
                  <a:avLst/>
                </a:prstGeom>
                <a:solidFill>
                  <a:srgbClr val="00B0F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R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7216426-7187-7A40-BAD5-84ABC7FB61C6}"/>
                    </a:ext>
                  </a:extLst>
                </p:cNvPr>
                <p:cNvSpPr/>
                <p:nvPr/>
              </p:nvSpPr>
              <p:spPr>
                <a:xfrm>
                  <a:off x="5204861" y="2115754"/>
                  <a:ext cx="928036" cy="604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600" dirty="0" err="1">
                      <a:solidFill>
                        <a:schemeClr val="bg1"/>
                      </a:solidFill>
                      <a:latin typeface="Lucida Grande"/>
                      <a:ea typeface="Lucida Grande"/>
                      <a:cs typeface="Lucida Grande"/>
                    </a:rPr>
                    <a:t>γ</a:t>
                  </a:r>
                  <a:endParaRPr lang="en-US" sz="26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DF909A0-001F-A541-9216-2E3A741621DA}"/>
                  </a:ext>
                </a:extLst>
              </p:cNvPr>
              <p:cNvGrpSpPr/>
              <p:nvPr/>
            </p:nvGrpSpPr>
            <p:grpSpPr>
              <a:xfrm>
                <a:off x="3908298" y="1697691"/>
                <a:ext cx="1046131" cy="1179742"/>
                <a:chOff x="3908298" y="1697691"/>
                <a:chExt cx="1046131" cy="1179742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2AA0516-DF76-784D-85DB-BEE7B39E6467}"/>
                    </a:ext>
                  </a:extLst>
                </p:cNvPr>
                <p:cNvSpPr/>
                <p:nvPr/>
              </p:nvSpPr>
              <p:spPr>
                <a:xfrm>
                  <a:off x="3908298" y="1697691"/>
                  <a:ext cx="928036" cy="9843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42456CD-2935-8D46-A738-8A175796053F}"/>
                    </a:ext>
                  </a:extLst>
                </p:cNvPr>
                <p:cNvSpPr/>
                <p:nvPr/>
              </p:nvSpPr>
              <p:spPr>
                <a:xfrm>
                  <a:off x="4026393" y="2272926"/>
                  <a:ext cx="928036" cy="604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l-GR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β</a:t>
                  </a:r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 or</a:t>
                  </a:r>
                </a:p>
                <a:p>
                  <a:pPr algn="ctr"/>
                  <a:endParaRPr lang="en-US" sz="26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  <a:p>
                  <a:pPr algn="ctr"/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lang="el-GR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β</a:t>
                  </a:r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I/N </a:t>
                  </a:r>
                </a:p>
              </p:txBody>
            </p:sp>
          </p:grp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E178799-82ED-0C40-ADB4-20821CA0EB44}"/>
                </a:ext>
              </a:extLst>
            </p:cNvPr>
            <p:cNvCxnSpPr/>
            <p:nvPr/>
          </p:nvCxnSpPr>
          <p:spPr>
            <a:xfrm>
              <a:off x="3787775" y="3021520"/>
              <a:ext cx="356978" cy="0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158F0AD-2D18-CD45-9B02-142A555A53F1}"/>
                </a:ext>
              </a:extLst>
            </p:cNvPr>
            <p:cNvCxnSpPr/>
            <p:nvPr/>
          </p:nvCxnSpPr>
          <p:spPr>
            <a:xfrm>
              <a:off x="4921854" y="3028463"/>
              <a:ext cx="356978" cy="0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Left Brace 20">
            <a:extLst>
              <a:ext uri="{FF2B5EF4-FFF2-40B4-BE49-F238E27FC236}">
                <a16:creationId xmlns:a16="http://schemas.microsoft.com/office/drawing/2014/main" id="{97E0B079-3950-B044-91B0-F45C681CFD5E}"/>
              </a:ext>
            </a:extLst>
          </p:cNvPr>
          <p:cNvSpPr/>
          <p:nvPr/>
        </p:nvSpPr>
        <p:spPr>
          <a:xfrm>
            <a:off x="6831817" y="3563196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BF59441-51ED-5342-9855-D6AC48D0FA5C}"/>
              </a:ext>
            </a:extLst>
          </p:cNvPr>
          <p:cNvSpPr/>
          <p:nvPr/>
        </p:nvSpPr>
        <p:spPr>
          <a:xfrm>
            <a:off x="8903313" y="3546264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F50F43C-DEC3-E74B-B340-1F43187F3BF6}"/>
              </a:ext>
            </a:extLst>
          </p:cNvPr>
          <p:cNvSpPr/>
          <p:nvPr/>
        </p:nvSpPr>
        <p:spPr>
          <a:xfrm>
            <a:off x="10692589" y="3613998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4E73B5-B523-794B-9142-8AB82737A5E0}"/>
              </a:ext>
            </a:extLst>
          </p:cNvPr>
          <p:cNvSpPr/>
          <p:nvPr/>
        </p:nvSpPr>
        <p:spPr>
          <a:xfrm>
            <a:off x="6350234" y="4482956"/>
            <a:ext cx="1685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Cambria Math"/>
              </a:rPr>
              <a:t>Susceptible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C17ABB-D97E-7349-9B5C-721922A61CFB}"/>
              </a:ext>
            </a:extLst>
          </p:cNvPr>
          <p:cNvSpPr/>
          <p:nvPr/>
        </p:nvSpPr>
        <p:spPr>
          <a:xfrm>
            <a:off x="8527983" y="4567824"/>
            <a:ext cx="1457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Cambria Math"/>
              </a:rPr>
              <a:t>Infectious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360C21-0399-C74B-BD38-0C1BB8D190EC}"/>
              </a:ext>
            </a:extLst>
          </p:cNvPr>
          <p:cNvSpPr/>
          <p:nvPr/>
        </p:nvSpPr>
        <p:spPr>
          <a:xfrm>
            <a:off x="10333078" y="4600900"/>
            <a:ext cx="1760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  <a:cs typeface="Cambria Math"/>
              </a:rPr>
              <a:t>Recovered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4890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Ecology?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study of the interactions of organisms and their environment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Coined in  1866 by German scientist Ernst Haeckel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Nile crocodiles opening mouths for sandpipers (Herodotus)</a:t>
            </a:r>
          </a:p>
          <a:p>
            <a:r>
              <a:rPr lang="en-US" dirty="0">
                <a:solidFill>
                  <a:schemeClr val="bg1"/>
                </a:solidFill>
              </a:rPr>
              <a:t>Emphasis on explaining dynamical processes in nature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1151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Origins in plant biology and succession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Clements and Gleason (1910s-20s)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7558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Origins in plant biology and succession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Clements and Gleason (1910s-20s)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Food Chains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Charles Elton (1920s)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3280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Origins in plant biology and						 succession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Clements and Gleason (1910s-20s)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Food Chains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Charles Elton (1920s)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Predator-Prey Dynamics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</a:t>
            </a:r>
            <a:r>
              <a:rPr lang="en-US" dirty="0" err="1">
                <a:solidFill>
                  <a:schemeClr val="bg1"/>
                </a:solidFill>
              </a:rPr>
              <a:t>Lotka-Voltera</a:t>
            </a:r>
            <a:r>
              <a:rPr lang="en-US" dirty="0">
                <a:solidFill>
                  <a:schemeClr val="bg1"/>
                </a:solidFill>
              </a:rPr>
              <a:t> (1920s)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63C6B-084D-6C4B-A7E1-2284029EB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51114"/>
            <a:ext cx="5898488" cy="362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837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Origins in plant biology and 					       succession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Clements and Gleason (1910s-20s)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Food Chains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Charles Elton (1920s)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Predator-Prey Dynamics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</a:t>
            </a:r>
            <a:r>
              <a:rPr lang="en-US" dirty="0" err="1">
                <a:solidFill>
                  <a:schemeClr val="bg1"/>
                </a:solidFill>
              </a:rPr>
              <a:t>Lotka-Voltera</a:t>
            </a:r>
            <a:r>
              <a:rPr lang="en-US" dirty="0">
                <a:solidFill>
                  <a:schemeClr val="bg1"/>
                </a:solidFill>
              </a:rPr>
              <a:t> (1920s)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Mathematical Ecology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Robert MacArthur (1950s)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Island biogeography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39E1B-FCBB-D545-86B5-338B0C3E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206" y="1274165"/>
            <a:ext cx="4810594" cy="42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983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86DA-9A9B-1440-B63F-A995FAE2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 in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A7B6-11D8-694B-93EF-EE62D58C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Origins in plant biology and succession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Clements and Gleason (1910s-20s)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Food Chains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Charles Elton (1920s)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Predator-Prey Dynamics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-  </a:t>
            </a:r>
            <a:r>
              <a:rPr lang="en-US" dirty="0" err="1">
                <a:solidFill>
                  <a:schemeClr val="bg1"/>
                </a:solidFill>
              </a:rPr>
              <a:t>Lotka-Voltera</a:t>
            </a:r>
            <a:r>
              <a:rPr lang="en-US" dirty="0">
                <a:solidFill>
                  <a:schemeClr val="bg1"/>
                </a:solidFill>
              </a:rPr>
              <a:t> (1920s)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Mathematical Ecology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Robert MacArthur (1950s)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Island biogeography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Disease Ecology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Anderson and May (1980s)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Island biogeography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FB54F7-084E-FE8E-F8E6-D7652BA1A215}"/>
              </a:ext>
            </a:extLst>
          </p:cNvPr>
          <p:cNvGrpSpPr/>
          <p:nvPr/>
        </p:nvGrpSpPr>
        <p:grpSpPr>
          <a:xfrm>
            <a:off x="6538032" y="1257546"/>
            <a:ext cx="4853655" cy="2672740"/>
            <a:chOff x="2992352" y="2107642"/>
            <a:chExt cx="2925834" cy="1403908"/>
          </a:xfrm>
        </p:grpSpPr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6637173E-1086-03FE-B6C0-1CC314C3BA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4850" y="3346450"/>
            <a:ext cx="1143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300" imgH="165100" progId="Equation.3">
                    <p:embed/>
                  </p:oleObj>
                </mc:Choice>
                <mc:Fallback>
                  <p:oleObj name="Equation" r:id="rId2" imgW="114300" imgH="165100" progId="Equation.3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7CBD287D-8DEC-9E48-AFDB-AC44534F75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514850" y="3346450"/>
                          <a:ext cx="1143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6723099-8A95-1953-DB92-52C06ADACBB1}"/>
                </a:ext>
              </a:extLst>
            </p:cNvPr>
            <p:cNvGrpSpPr/>
            <p:nvPr/>
          </p:nvGrpSpPr>
          <p:grpSpPr>
            <a:xfrm>
              <a:off x="2992352" y="2107642"/>
              <a:ext cx="2925834" cy="1243242"/>
              <a:chOff x="3568063" y="1697691"/>
              <a:chExt cx="2925834" cy="124324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48F95D8-335B-317C-AB41-D3512F4C59D8}"/>
                  </a:ext>
                </a:extLst>
              </p:cNvPr>
              <p:cNvGrpSpPr/>
              <p:nvPr/>
            </p:nvGrpSpPr>
            <p:grpSpPr>
              <a:xfrm>
                <a:off x="3568063" y="2115754"/>
                <a:ext cx="2925834" cy="825179"/>
                <a:chOff x="3568063" y="2115754"/>
                <a:chExt cx="2925834" cy="82517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2EB8D7A0-92A6-12D7-F27A-86E7DB9D8969}"/>
                    </a:ext>
                  </a:extLst>
                </p:cNvPr>
                <p:cNvSpPr/>
                <p:nvPr/>
              </p:nvSpPr>
              <p:spPr>
                <a:xfrm>
                  <a:off x="3568063" y="2287009"/>
                  <a:ext cx="648720" cy="636593"/>
                </a:xfrm>
                <a:prstGeom prst="rect">
                  <a:avLst/>
                </a:prstGeom>
                <a:solidFill>
                  <a:schemeClr val="accent6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S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34EC68E-8B66-7CCD-F4C3-5FC564FCBE70}"/>
                    </a:ext>
                  </a:extLst>
                </p:cNvPr>
                <p:cNvSpPr/>
                <p:nvPr/>
              </p:nvSpPr>
              <p:spPr>
                <a:xfrm>
                  <a:off x="4786705" y="2277455"/>
                  <a:ext cx="633609" cy="661992"/>
                </a:xfrm>
                <a:prstGeom prst="rect">
                  <a:avLst/>
                </a:prstGeom>
                <a:solidFill>
                  <a:srgbClr val="FF000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E86035D-DB0C-AA34-FEE7-2474D7F72290}"/>
                    </a:ext>
                  </a:extLst>
                </p:cNvPr>
                <p:cNvSpPr/>
                <p:nvPr/>
              </p:nvSpPr>
              <p:spPr>
                <a:xfrm>
                  <a:off x="5884720" y="2288495"/>
                  <a:ext cx="609177" cy="652438"/>
                </a:xfrm>
                <a:prstGeom prst="rect">
                  <a:avLst/>
                </a:prstGeom>
                <a:solidFill>
                  <a:srgbClr val="00B0F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R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9EDB0AA-9855-30DD-357D-B5553503BBC9}"/>
                    </a:ext>
                  </a:extLst>
                </p:cNvPr>
                <p:cNvSpPr/>
                <p:nvPr/>
              </p:nvSpPr>
              <p:spPr>
                <a:xfrm>
                  <a:off x="5204861" y="2115754"/>
                  <a:ext cx="928036" cy="604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600" dirty="0" err="1">
                      <a:solidFill>
                        <a:schemeClr val="bg1"/>
                      </a:solidFill>
                      <a:latin typeface="Lucida Grande"/>
                      <a:ea typeface="Lucida Grande"/>
                      <a:cs typeface="Lucida Grande"/>
                    </a:rPr>
                    <a:t>γ</a:t>
                  </a:r>
                  <a:endParaRPr lang="en-US" sz="26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4CDEEF4-0C5C-CC30-F340-53167EE1C8EA}"/>
                  </a:ext>
                </a:extLst>
              </p:cNvPr>
              <p:cNvGrpSpPr/>
              <p:nvPr/>
            </p:nvGrpSpPr>
            <p:grpSpPr>
              <a:xfrm>
                <a:off x="3908298" y="1697691"/>
                <a:ext cx="1046131" cy="1179742"/>
                <a:chOff x="3908298" y="1697691"/>
                <a:chExt cx="1046131" cy="1179742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0E067D6-09F2-2C13-7E56-CADFEF28824B}"/>
                    </a:ext>
                  </a:extLst>
                </p:cNvPr>
                <p:cNvSpPr/>
                <p:nvPr/>
              </p:nvSpPr>
              <p:spPr>
                <a:xfrm>
                  <a:off x="3908298" y="1697691"/>
                  <a:ext cx="928036" cy="9843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3D111AC-B5B7-5468-BC87-98070B4D2F90}"/>
                    </a:ext>
                  </a:extLst>
                </p:cNvPr>
                <p:cNvSpPr/>
                <p:nvPr/>
              </p:nvSpPr>
              <p:spPr>
                <a:xfrm>
                  <a:off x="4026393" y="2272926"/>
                  <a:ext cx="928036" cy="604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l-GR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β</a:t>
                  </a:r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 or</a:t>
                  </a:r>
                </a:p>
                <a:p>
                  <a:pPr algn="ctr"/>
                  <a:endParaRPr lang="en-US" sz="2600" dirty="0">
                    <a:solidFill>
                      <a:schemeClr val="bg1"/>
                    </a:solidFill>
                    <a:latin typeface="Cambria Math"/>
                    <a:cs typeface="Cambria Math"/>
                  </a:endParaRPr>
                </a:p>
                <a:p>
                  <a:pPr algn="ctr"/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lang="el-GR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β</a:t>
                  </a:r>
                  <a:r>
                    <a:rPr lang="en-US" sz="2600" dirty="0">
                      <a:solidFill>
                        <a:schemeClr val="bg1"/>
                      </a:solidFill>
                      <a:latin typeface="Cambria Math"/>
                      <a:cs typeface="Cambria Math"/>
                    </a:rPr>
                    <a:t>I/N </a:t>
                  </a:r>
                </a:p>
              </p:txBody>
            </p:sp>
          </p:grp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6B42318-3C2D-9859-3AEF-D5687FB4F21D}"/>
                </a:ext>
              </a:extLst>
            </p:cNvPr>
            <p:cNvCxnSpPr/>
            <p:nvPr/>
          </p:nvCxnSpPr>
          <p:spPr>
            <a:xfrm>
              <a:off x="3787775" y="3021520"/>
              <a:ext cx="356978" cy="0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9F1C971-7006-D7FF-C652-A9CC7974BD45}"/>
                </a:ext>
              </a:extLst>
            </p:cNvPr>
            <p:cNvCxnSpPr/>
            <p:nvPr/>
          </p:nvCxnSpPr>
          <p:spPr>
            <a:xfrm>
              <a:off x="4921854" y="3028463"/>
              <a:ext cx="356978" cy="0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Left Brace 35">
            <a:extLst>
              <a:ext uri="{FF2B5EF4-FFF2-40B4-BE49-F238E27FC236}">
                <a16:creationId xmlns:a16="http://schemas.microsoft.com/office/drawing/2014/main" id="{83D57ECD-B732-DA86-27CC-DBC6AECE7273}"/>
              </a:ext>
            </a:extLst>
          </p:cNvPr>
          <p:cNvSpPr/>
          <p:nvPr/>
        </p:nvSpPr>
        <p:spPr>
          <a:xfrm>
            <a:off x="6831817" y="3563196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5FE04CE2-600A-2803-593A-815B1C15EB8C}"/>
              </a:ext>
            </a:extLst>
          </p:cNvPr>
          <p:cNvSpPr/>
          <p:nvPr/>
        </p:nvSpPr>
        <p:spPr>
          <a:xfrm>
            <a:off x="8903313" y="3546264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FBE5FF73-C578-6164-7350-471407B0CF53}"/>
              </a:ext>
            </a:extLst>
          </p:cNvPr>
          <p:cNvSpPr/>
          <p:nvPr/>
        </p:nvSpPr>
        <p:spPr>
          <a:xfrm>
            <a:off x="10692589" y="3613998"/>
            <a:ext cx="702750" cy="982047"/>
          </a:xfrm>
          <a:prstGeom prst="leftBrace">
            <a:avLst/>
          </a:prstGeom>
          <a:ln w="76200" cmpd="sng">
            <a:solidFill>
              <a:schemeClr val="bg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F5F978-D8C7-2A45-F7D8-93BE9DD87649}"/>
              </a:ext>
            </a:extLst>
          </p:cNvPr>
          <p:cNvSpPr/>
          <p:nvPr/>
        </p:nvSpPr>
        <p:spPr>
          <a:xfrm>
            <a:off x="6350234" y="4482956"/>
            <a:ext cx="1685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Cambria Math"/>
              </a:rPr>
              <a:t>Susceptible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811CDE-F149-4831-A6A0-DEEADFC63658}"/>
              </a:ext>
            </a:extLst>
          </p:cNvPr>
          <p:cNvSpPr/>
          <p:nvPr/>
        </p:nvSpPr>
        <p:spPr>
          <a:xfrm>
            <a:off x="8527983" y="4567824"/>
            <a:ext cx="1457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Cambria Math"/>
              </a:rPr>
              <a:t>Infectious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6FA6FD-AA93-21F3-F923-4AEB2644A96C}"/>
              </a:ext>
            </a:extLst>
          </p:cNvPr>
          <p:cNvSpPr/>
          <p:nvPr/>
        </p:nvSpPr>
        <p:spPr>
          <a:xfrm>
            <a:off x="10333078" y="4600900"/>
            <a:ext cx="1760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  <a:cs typeface="Cambria Math"/>
              </a:rPr>
              <a:t>Recovered</a:t>
            </a:r>
            <a:endParaRPr lang="en-US" sz="2400" dirty="0">
              <a:solidFill>
                <a:schemeClr val="bg1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6878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9EF3-CCDF-CE48-B760-B1074CCA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Misaotra</a:t>
            </a:r>
            <a:r>
              <a:rPr lang="en-US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1EDE-0CAB-754B-A0D7-469E51E11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268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2883</TotalTime>
  <Words>2977</Words>
  <Application>Microsoft Macintosh PowerPoint</Application>
  <PresentationFormat>Widescreen</PresentationFormat>
  <Paragraphs>557</Paragraphs>
  <Slides>95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3" baseType="lpstr">
      <vt:lpstr>Arial</vt:lpstr>
      <vt:lpstr>Calibri</vt:lpstr>
      <vt:lpstr>Calibri Light</vt:lpstr>
      <vt:lpstr>Cambria Math</vt:lpstr>
      <vt:lpstr>Lucida Grande</vt:lpstr>
      <vt:lpstr>Times New Roman</vt:lpstr>
      <vt:lpstr>Office Theme</vt:lpstr>
      <vt:lpstr>Equation</vt:lpstr>
      <vt:lpstr>Data and Models</vt:lpstr>
      <vt:lpstr>Thanks to our sponsors!</vt:lpstr>
      <vt:lpstr>Goals for this lecture</vt:lpstr>
      <vt:lpstr>Goals for this lecture</vt:lpstr>
      <vt:lpstr>Goals for this lecture</vt:lpstr>
      <vt:lpstr>Goals for this lecture</vt:lpstr>
      <vt:lpstr>Goals for this lecture</vt:lpstr>
      <vt:lpstr>Goals for this lecture</vt:lpstr>
      <vt:lpstr>Goals for this lecture</vt:lpstr>
      <vt:lpstr>Goals for this lecture</vt:lpstr>
      <vt:lpstr>Goals for this lecture</vt:lpstr>
      <vt:lpstr>Goals for this lecture</vt:lpstr>
      <vt:lpstr>PowerPoint Presentation</vt:lpstr>
      <vt:lpstr>What is science?</vt:lpstr>
      <vt:lpstr>What is science?</vt:lpstr>
      <vt:lpstr>What is science?</vt:lpstr>
      <vt:lpstr>Observations and Laws and Principles</vt:lpstr>
      <vt:lpstr>Data and Models</vt:lpstr>
      <vt:lpstr>PowerPoint Presentation</vt:lpstr>
      <vt:lpstr>Data and Models</vt:lpstr>
      <vt:lpstr>Are these data?</vt:lpstr>
      <vt:lpstr>Are these data?</vt:lpstr>
      <vt:lpstr>Are these data?</vt:lpstr>
      <vt:lpstr>Are these data?</vt:lpstr>
      <vt:lpstr>Are these data?</vt:lpstr>
      <vt:lpstr>Are these data?</vt:lpstr>
      <vt:lpstr>Are these data?</vt:lpstr>
      <vt:lpstr>Are these data?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and Models</vt:lpstr>
      <vt:lpstr>PowerPoint Presentation</vt:lpstr>
      <vt:lpstr>What is science?</vt:lpstr>
      <vt:lpstr>PowerPoint Presentation</vt:lpstr>
      <vt:lpstr>PowerPoint Presentation</vt:lpstr>
      <vt:lpstr>PowerPoint Presentation</vt:lpstr>
      <vt:lpstr>PowerPoint Presentation</vt:lpstr>
      <vt:lpstr>Models: many types</vt:lpstr>
      <vt:lpstr>PowerPoint Presentation</vt:lpstr>
      <vt:lpstr>PowerPoint Presentation</vt:lpstr>
      <vt:lpstr>PowerPoint Presentation</vt:lpstr>
      <vt:lpstr>Statistical vs. Mathematical Model </vt:lpstr>
      <vt:lpstr>Statistical Models</vt:lpstr>
      <vt:lpstr>Statistical Models</vt:lpstr>
      <vt:lpstr>Statistical Models</vt:lpstr>
      <vt:lpstr>Statistical Models</vt:lpstr>
      <vt:lpstr>1. Example Question: What is the trajectory of Malagasy population size through time?</vt:lpstr>
      <vt:lpstr>1. Example Question: What is the trajectory of Malagasy population size through time?</vt:lpstr>
      <vt:lpstr>PowerPoint Presentation</vt:lpstr>
      <vt:lpstr>PowerPoint Presentation</vt:lpstr>
      <vt:lpstr>PowerPoint Presentation</vt:lpstr>
      <vt:lpstr>PowerPoint Presentation</vt:lpstr>
      <vt:lpstr>Statistical Models: Beware!</vt:lpstr>
      <vt:lpstr>Statistical Models: Beware!</vt:lpstr>
      <vt:lpstr>Statistical Models: Beware!</vt:lpstr>
      <vt:lpstr>Statistical vs. Mathematical Model </vt:lpstr>
      <vt:lpstr>Mechanistic Models</vt:lpstr>
      <vt:lpstr>Mechanistic Models</vt:lpstr>
      <vt:lpstr>Mechanistic Models</vt:lpstr>
      <vt:lpstr>Mechanistic Models</vt:lpstr>
      <vt:lpstr>PowerPoint Presentation</vt:lpstr>
      <vt:lpstr>PowerPoint Presentation</vt:lpstr>
      <vt:lpstr>PowerPoint Presentation</vt:lpstr>
      <vt:lpstr>PowerPoint Presentation</vt:lpstr>
      <vt:lpstr>Mechanistic Models: Beware!</vt:lpstr>
      <vt:lpstr>Mechanistic Models: Beware!</vt:lpstr>
      <vt:lpstr>Mechanistic Models: Beware!</vt:lpstr>
      <vt:lpstr>Mechanistic Models: Beware!</vt:lpstr>
      <vt:lpstr>Mechanistic Models: Beware!</vt:lpstr>
      <vt:lpstr>It is ideal when statistical and mechanistic models meet:</vt:lpstr>
      <vt:lpstr>A Tool for E2M2</vt:lpstr>
      <vt:lpstr>PowerPoint Presentation</vt:lpstr>
      <vt:lpstr>Goals for this lecture</vt:lpstr>
      <vt:lpstr>Goals for this lecture</vt:lpstr>
      <vt:lpstr>What is Epidemiology?</vt:lpstr>
      <vt:lpstr>Models in Epidemiology</vt:lpstr>
      <vt:lpstr>Models in Epidemiology</vt:lpstr>
      <vt:lpstr>Models in Epidemiology</vt:lpstr>
      <vt:lpstr>Models in Epidemiology</vt:lpstr>
      <vt:lpstr>Models in Epidemiology</vt:lpstr>
      <vt:lpstr>What is Ecology?</vt:lpstr>
      <vt:lpstr>Models in Ecology</vt:lpstr>
      <vt:lpstr>Models in Ecology</vt:lpstr>
      <vt:lpstr>Models in Ecology</vt:lpstr>
      <vt:lpstr>Models in Ecology</vt:lpstr>
      <vt:lpstr>Models in Ecology</vt:lpstr>
      <vt:lpstr>Misaotra!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Cara Brook</dc:creator>
  <cp:lastModifiedBy>Cara Brook</cp:lastModifiedBy>
  <cp:revision>84</cp:revision>
  <dcterms:created xsi:type="dcterms:W3CDTF">2018-01-14T04:11:12Z</dcterms:created>
  <dcterms:modified xsi:type="dcterms:W3CDTF">2025-05-18T14:11:14Z</dcterms:modified>
</cp:coreProperties>
</file>